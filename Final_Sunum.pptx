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Mevcut durum</c:v>
                </c:pt>
              </c:strCache>
            </c:strRef>
          </c:tx>
          <c:spPr>
            <a:solidFill>
              <a:srgbClr val="8fa3bf"/>
            </a:solidFill>
            <a:ln w="38160">
              <a:solidFill>
                <a:srgbClr val="8fa3bf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1"/>
                <c:pt idx="0">
                  <c:v>0</c:v>
                </c:pt>
                <c:pt idx="1">
                  <c:v>6</c:v>
                </c:pt>
                <c:pt idx="2">
                  <c:v>12</c:v>
                </c:pt>
                <c:pt idx="3">
                  <c:v>18</c:v>
                </c:pt>
                <c:pt idx="4">
                  <c:v>24</c:v>
                </c:pt>
                <c:pt idx="5">
                  <c:v>30</c:v>
                </c:pt>
                <c:pt idx="6">
                  <c:v>36</c:v>
                </c:pt>
                <c:pt idx="7">
                  <c:v>42</c:v>
                </c:pt>
                <c:pt idx="8">
                  <c:v>48</c:v>
                </c:pt>
                <c:pt idx="9">
                  <c:v>54</c:v>
                </c:pt>
                <c:pt idx="10">
                  <c:v>60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1"/>
                <c:pt idx="0">
                  <c:v>0</c:v>
                </c:pt>
                <c:pt idx="1">
                  <c:v>2.7</c:v>
                </c:pt>
                <c:pt idx="2">
                  <c:v>5.4</c:v>
                </c:pt>
                <c:pt idx="3">
                  <c:v>8.1</c:v>
                </c:pt>
                <c:pt idx="4">
                  <c:v>10.8</c:v>
                </c:pt>
                <c:pt idx="5">
                  <c:v>13.5</c:v>
                </c:pt>
                <c:pt idx="6">
                  <c:v>16.2</c:v>
                </c:pt>
                <c:pt idx="7">
                  <c:v>18.9</c:v>
                </c:pt>
                <c:pt idx="8">
                  <c:v>21.6</c:v>
                </c:pt>
                <c:pt idx="9">
                  <c:v>24.3</c:v>
                </c:pt>
                <c:pt idx="10">
                  <c:v>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Tusmec çözümü</c:v>
                </c:pt>
              </c:strCache>
            </c:strRef>
          </c:tx>
          <c:spPr>
            <a:solidFill>
              <a:srgbClr val="0e8d92"/>
            </a:solidFill>
            <a:ln w="38160">
              <a:solidFill>
                <a:srgbClr val="0e8d92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1"/>
                <c:pt idx="0">
                  <c:v>0</c:v>
                </c:pt>
                <c:pt idx="1">
                  <c:v>6</c:v>
                </c:pt>
                <c:pt idx="2">
                  <c:v>12</c:v>
                </c:pt>
                <c:pt idx="3">
                  <c:v>18</c:v>
                </c:pt>
                <c:pt idx="4">
                  <c:v>24</c:v>
                </c:pt>
                <c:pt idx="5">
                  <c:v>30</c:v>
                </c:pt>
                <c:pt idx="6">
                  <c:v>36</c:v>
                </c:pt>
                <c:pt idx="7">
                  <c:v>42</c:v>
                </c:pt>
                <c:pt idx="8">
                  <c:v>48</c:v>
                </c:pt>
                <c:pt idx="9">
                  <c:v>54</c:v>
                </c:pt>
                <c:pt idx="10">
                  <c:v>60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1"/>
                <c:pt idx="0">
                  <c:v>0.9</c:v>
                </c:pt>
                <c:pt idx="1">
                  <c:v>2.1</c:v>
                </c:pt>
                <c:pt idx="2">
                  <c:v>3.3</c:v>
                </c:pt>
                <c:pt idx="3">
                  <c:v>4.5</c:v>
                </c:pt>
                <c:pt idx="4">
                  <c:v>5.7</c:v>
                </c:pt>
                <c:pt idx="5">
                  <c:v>6.9</c:v>
                </c:pt>
                <c:pt idx="6">
                  <c:v>8.1</c:v>
                </c:pt>
                <c:pt idx="7">
                  <c:v>9.3</c:v>
                </c:pt>
                <c:pt idx="8">
                  <c:v>10.5</c:v>
                </c:pt>
                <c:pt idx="9">
                  <c:v>11.7</c:v>
                </c:pt>
                <c:pt idx="10">
                  <c:v>12.9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68418857"/>
        <c:axId val="20725692"/>
      </c:lineChart>
      <c:catAx>
        <c:axId val="68418857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100" spc="-1" strike="noStrike">
                    <a:solidFill>
                      <a:srgbClr val="5a6b84"/>
                    </a:solidFill>
                    <a:latin typeface="Arial"/>
                  </a:defRPr>
                </a:pPr>
                <a:r>
                  <a:rPr b="0" sz="1100" spc="-1" strike="noStrike">
                    <a:solidFill>
                      <a:srgbClr val="5a6b84"/>
                    </a:solidFill>
                    <a:latin typeface="Arial"/>
                  </a:rPr>
                  <a:t>Ay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5a6b84"/>
                </a:solidFill>
                <a:latin typeface="Arial"/>
              </a:defRPr>
            </a:pPr>
          </a:p>
        </c:txPr>
        <c:crossAx val="20725692"/>
        <c:crosses val="autoZero"/>
        <c:auto val="1"/>
        <c:lblAlgn val="ctr"/>
        <c:lblOffset val="100"/>
        <c:noMultiLvlLbl val="0"/>
      </c:catAx>
      <c:valAx>
        <c:axId val="20725692"/>
        <c:scaling>
          <c:orientation val="minMax"/>
        </c:scaling>
        <c:delete val="0"/>
        <c:axPos val="l"/>
        <c:majorGridlines>
          <c:spPr>
            <a:ln w="12600">
              <a:solidFill>
                <a:srgbClr val="e3e8f0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100" spc="-1" strike="noStrike">
                    <a:solidFill>
                      <a:srgbClr val="5a6b84"/>
                    </a:solidFill>
                    <a:latin typeface="Arial"/>
                  </a:defRPr>
                </a:pPr>
                <a:r>
                  <a:rPr b="0" sz="1100" spc="-1" strike="noStrike">
                    <a:solidFill>
                      <a:srgbClr val="5a6b84"/>
                    </a:solidFill>
                    <a:latin typeface="Arial"/>
                  </a:rPr>
                  <a:t>Kümülatif maliyet (Milyon TL)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5a6b84"/>
                </a:solidFill>
                <a:latin typeface="Arial"/>
              </a:defRPr>
            </a:pPr>
          </a:p>
        </c:txPr>
        <c:crossAx val="68418857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00" spc="-1" strike="noStrike">
              <a:solidFill>
                <a:srgbClr val="5a6b84"/>
              </a:solidFill>
              <a:latin typeface="Calibri"/>
            </a:defRPr>
          </a:pPr>
        </a:p>
      </c:txPr>
    </c:legend>
    <c:plotVisOnly val="1"/>
    <c:dispBlanksAs val="span"/>
  </c:chart>
  <c:spPr>
    <a:noFill/>
    <a:ln w="936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534899F-6D20-40BB-B4D6-04529EC3EAC7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Hoş geldiniz. Dört haftalık stajın </a:t>
            </a:r>
            <a:r>
              <a:rPr b="0" lang="en-US" sz="2000" spc="-1" strike="noStrike">
                <a:latin typeface="Arial"/>
              </a:rPr>
              <a:t>ürünü: TusCore motoru üzerinde </a:t>
            </a:r>
            <a:r>
              <a:rPr b="0" lang="en-US" sz="2000" spc="-1" strike="noStrike">
                <a:latin typeface="Arial"/>
              </a:rPr>
              <a:t>web tabanlı satış demo </a:t>
            </a:r>
            <a:r>
              <a:rPr b="0" lang="en-US" sz="2000" spc="-1" strike="noStrike">
                <a:latin typeface="Arial"/>
              </a:rPr>
              <a:t>platformu.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5683EA-0C45-49D7-8BFD-E97FFA70555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Kr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l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j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k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k</a:t>
            </a:r>
            <a:r>
              <a:rPr b="0" lang="en-US" sz="2000" spc="-1" strike="noStrike">
                <a:latin typeface="Arial"/>
              </a:rPr>
              <a:t>ı</a:t>
            </a:r>
            <a:r>
              <a:rPr b="0" lang="en-US" sz="2000" spc="-1" strike="noStrike">
                <a:latin typeface="Arial"/>
              </a:rPr>
              <a:t>ş</a:t>
            </a:r>
            <a:r>
              <a:rPr b="0" lang="en-US" sz="2000" spc="-1" strike="noStrike">
                <a:latin typeface="Arial"/>
              </a:rPr>
              <a:t>: </a:t>
            </a:r>
            <a:r>
              <a:rPr b="0" lang="en-US" sz="2000" spc="-1" strike="noStrike">
                <a:latin typeface="Arial"/>
              </a:rPr>
              <a:t>h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r </a:t>
            </a:r>
            <a:r>
              <a:rPr b="0" lang="en-US" sz="2000" spc="-1" strike="noStrike">
                <a:latin typeface="Arial"/>
              </a:rPr>
              <a:t>h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f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b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r </a:t>
            </a:r>
            <a:r>
              <a:rPr b="0" lang="en-US" sz="2000" spc="-1" strike="noStrike">
                <a:latin typeface="Arial"/>
              </a:rPr>
              <a:t>ö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c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k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ü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ü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ş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d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l</a:t>
            </a:r>
            <a:r>
              <a:rPr b="0" lang="en-US" sz="2000" spc="-1" strike="noStrike">
                <a:latin typeface="Arial"/>
              </a:rPr>
              <a:t>d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28BA16-D39C-45E3-ACA8-CD8937302C3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Hafta 3 en yüksek ağırlık (%40) — bugünkü demonun ana gövdesi.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98FEECD-C798-4844-9AE6-74447F0152D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45 </a:t>
            </a:r>
            <a:r>
              <a:rPr b="0" lang="en-US" sz="2000" spc="-1" strike="noStrike">
                <a:latin typeface="Arial"/>
              </a:rPr>
              <a:t>müşt</a:t>
            </a:r>
            <a:r>
              <a:rPr b="0" lang="en-US" sz="2000" spc="-1" strike="noStrike">
                <a:latin typeface="Arial"/>
              </a:rPr>
              <a:t>eri, </a:t>
            </a:r>
            <a:r>
              <a:rPr b="0" lang="en-US" sz="2000" spc="-1" strike="noStrike">
                <a:latin typeface="Arial"/>
              </a:rPr>
              <a:t>35 </a:t>
            </a:r>
            <a:r>
              <a:rPr b="0" lang="en-US" sz="2000" spc="-1" strike="noStrike">
                <a:latin typeface="Arial"/>
              </a:rPr>
              <a:t>yurt </a:t>
            </a:r>
            <a:r>
              <a:rPr b="0" lang="en-US" sz="2000" spc="-1" strike="noStrike">
                <a:latin typeface="Arial"/>
              </a:rPr>
              <a:t>içi 10 </a:t>
            </a:r>
            <a:r>
              <a:rPr b="0" lang="en-US" sz="2000" spc="-1" strike="noStrike">
                <a:latin typeface="Arial"/>
              </a:rPr>
              <a:t>ulusl</a:t>
            </a:r>
            <a:r>
              <a:rPr b="0" lang="en-US" sz="2000" spc="-1" strike="noStrike">
                <a:latin typeface="Arial"/>
              </a:rPr>
              <a:t>arara</a:t>
            </a:r>
            <a:r>
              <a:rPr b="0" lang="en-US" sz="2000" spc="-1" strike="noStrike">
                <a:latin typeface="Arial"/>
              </a:rPr>
              <a:t>sı. </a:t>
            </a:r>
            <a:r>
              <a:rPr b="0" lang="en-US" sz="2000" spc="-1" strike="noStrike">
                <a:latin typeface="Arial"/>
              </a:rPr>
              <a:t>Bonu</a:t>
            </a:r>
            <a:r>
              <a:rPr b="0" lang="en-US" sz="2000" spc="-1" strike="noStrike">
                <a:latin typeface="Arial"/>
              </a:rPr>
              <a:t>s: </a:t>
            </a:r>
            <a:r>
              <a:rPr b="0" lang="en-US" sz="2000" spc="-1" strike="noStrike">
                <a:latin typeface="Arial"/>
              </a:rPr>
              <a:t>PDF </a:t>
            </a:r>
            <a:r>
              <a:rPr b="0" lang="en-US" sz="2000" spc="-1" strike="noStrike">
                <a:latin typeface="Arial"/>
              </a:rPr>
              <a:t>+10 </a:t>
            </a:r>
            <a:r>
              <a:rPr b="0" lang="en-US" sz="2000" spc="-1" strike="noStrike">
                <a:latin typeface="Arial"/>
              </a:rPr>
              <a:t>ve </a:t>
            </a:r>
            <a:r>
              <a:rPr b="0" lang="en-US" sz="2000" spc="-1" strike="noStrike">
                <a:latin typeface="Arial"/>
              </a:rPr>
              <a:t>PPT</a:t>
            </a:r>
            <a:r>
              <a:rPr b="0" lang="en-US" sz="2000" spc="-1" strike="noStrike">
                <a:latin typeface="Arial"/>
              </a:rPr>
              <a:t>X </a:t>
            </a:r>
            <a:r>
              <a:rPr b="0" lang="en-US" sz="2000" spc="-1" strike="noStrike">
                <a:latin typeface="Arial"/>
              </a:rPr>
              <a:t>+15 </a:t>
            </a:r>
            <a:r>
              <a:rPr b="0" lang="en-US" sz="2000" spc="-1" strike="noStrike">
                <a:latin typeface="Arial"/>
              </a:rPr>
              <a:t>alındı</a:t>
            </a:r>
            <a:r>
              <a:rPr b="0" lang="en-US" sz="2000" spc="-1" strike="noStrike">
                <a:latin typeface="Arial"/>
              </a:rPr>
              <a:t>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44CBF37-982D-4603-8051-2758AB70E1D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Modüler ayrım Hafta 3'ün sigortası </a:t>
            </a:r>
            <a:r>
              <a:rPr b="0" lang="en-US" sz="2000" spc="-1" strike="noStrike">
                <a:latin typeface="Arial"/>
              </a:rPr>
              <a:t>oldu: motor koduna dokunmadan </a:t>
            </a:r>
            <a:r>
              <a:rPr b="0" lang="en-US" sz="2000" spc="-1" strike="noStrike">
                <a:latin typeface="Arial"/>
              </a:rPr>
              <a:t>üç farklı arayüz.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CBCC8D2-0CBD-4402-8516-F6FC9853DA7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Web demosu 3 </a:t>
            </a:r>
            <a:r>
              <a:rPr b="0" lang="en-US" sz="2000" spc="-1" strike="noStrike">
                <a:latin typeface="Arial"/>
              </a:rPr>
              <a:t>tipe odaklanır </a:t>
            </a:r>
            <a:r>
              <a:rPr b="0" lang="en-US" sz="2000" spc="-1" strike="noStrike">
                <a:latin typeface="Arial"/>
              </a:rPr>
              <a:t>(UAV/UGV/AMR</a:t>
            </a:r>
            <a:r>
              <a:rPr b="0" lang="en-US" sz="2000" spc="-1" strike="noStrike">
                <a:latin typeface="Arial"/>
              </a:rPr>
              <a:t>); motor 6 tipi </a:t>
            </a:r>
            <a:r>
              <a:rPr b="0" lang="en-US" sz="2000" spc="-1" strike="noStrike">
                <a:latin typeface="Arial"/>
              </a:rPr>
              <a:t>destekler.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788DA3C-F31E-47AD-A0F7-4E64A9596E0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Trade-off dürüst anlatılmalı: PAPF </a:t>
            </a:r>
            <a:r>
              <a:rPr b="0" lang="en-US" sz="2000" spc="-1" strike="noStrike">
                <a:latin typeface="Arial"/>
              </a:rPr>
              <a:t>her metrikte 'bedava' kazanç </a:t>
            </a:r>
            <a:r>
              <a:rPr b="0" lang="en-US" sz="2000" spc="-1" strike="noStrike">
                <a:latin typeface="Arial"/>
              </a:rPr>
              <a:t>değil; lookahead ayarı senaryoya </a:t>
            </a:r>
            <a:r>
              <a:rPr b="0" lang="en-US" sz="2000" spc="-1" strike="noStrike">
                <a:latin typeface="Arial"/>
              </a:rPr>
              <a:t>göre.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61A824A-F7E5-4C64-BA84-D5284651BA4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83 test %90+ </a:t>
            </a:r>
            <a:r>
              <a:rPr b="0" lang="en-US" sz="2000" spc="-1" strike="noStrike">
                <a:latin typeface="Arial"/>
              </a:rPr>
              <a:t>kapsam; her </a:t>
            </a:r>
            <a:r>
              <a:rPr b="0" lang="en-US" sz="2000" spc="-1" strike="noStrike">
                <a:latin typeface="Arial"/>
              </a:rPr>
              <a:t>ROI formülü elle </a:t>
            </a:r>
            <a:r>
              <a:rPr b="0" lang="en-US" sz="2000" spc="-1" strike="noStrike">
                <a:latin typeface="Arial"/>
              </a:rPr>
              <a:t>hesaplanmış </a:t>
            </a:r>
            <a:r>
              <a:rPr b="0" lang="en-US" sz="2000" spc="-1" strike="noStrike">
                <a:latin typeface="Arial"/>
              </a:rPr>
              <a:t>örneklerle </a:t>
            </a:r>
            <a:r>
              <a:rPr b="0" lang="en-US" sz="2000" spc="-1" strike="noStrike">
                <a:latin typeface="Arial"/>
              </a:rPr>
              <a:t>doğrulanıyor.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93C132-63D0-409A-B3AB-DF2596EAF48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Sağdak</a:t>
            </a:r>
            <a:r>
              <a:rPr b="0" lang="en-US" sz="2000" spc="-1" strike="noStrike">
                <a:latin typeface="Arial"/>
              </a:rPr>
              <a:t>i kutu </a:t>
            </a:r>
            <a:r>
              <a:rPr b="0" lang="en-US" sz="2000" spc="-1" strike="noStrike">
                <a:latin typeface="Arial"/>
              </a:rPr>
              <a:t>kasıtl</a:t>
            </a:r>
            <a:r>
              <a:rPr b="0" lang="en-US" sz="2000" spc="-1" strike="noStrike">
                <a:latin typeface="Arial"/>
              </a:rPr>
              <a:t>ı </a:t>
            </a:r>
            <a:r>
              <a:rPr b="0" lang="en-US" sz="2000" spc="-1" strike="noStrike">
                <a:latin typeface="Arial"/>
              </a:rPr>
              <a:t>olara</a:t>
            </a:r>
            <a:r>
              <a:rPr b="0" lang="en-US" sz="2000" spc="-1" strike="noStrike">
                <a:latin typeface="Arial"/>
              </a:rPr>
              <a:t>k </a:t>
            </a:r>
            <a:r>
              <a:rPr b="0" lang="en-US" sz="2000" spc="-1" strike="noStrike">
                <a:latin typeface="Arial"/>
              </a:rPr>
              <a:t>koyu: </a:t>
            </a:r>
            <a:r>
              <a:rPr b="0" lang="en-US" sz="2000" spc="-1" strike="noStrike">
                <a:latin typeface="Arial"/>
              </a:rPr>
              <a:t>doku</a:t>
            </a:r>
            <a:r>
              <a:rPr b="0" lang="en-US" sz="2000" spc="-1" strike="noStrike">
                <a:latin typeface="Arial"/>
              </a:rPr>
              <a:t>nulm</a:t>
            </a:r>
            <a:r>
              <a:rPr b="0" lang="en-US" sz="2000" spc="-1" strike="noStrike">
                <a:latin typeface="Arial"/>
              </a:rPr>
              <a:t>az </a:t>
            </a:r>
            <a:r>
              <a:rPr b="0" lang="en-US" sz="2000" spc="-1" strike="noStrike">
                <a:latin typeface="Arial"/>
              </a:rPr>
              <a:t>çekir</a:t>
            </a:r>
            <a:r>
              <a:rPr b="0" lang="en-US" sz="2000" spc="-1" strike="noStrike">
                <a:latin typeface="Arial"/>
              </a:rPr>
              <a:t>dek. </a:t>
            </a:r>
            <a:r>
              <a:rPr b="0" lang="en-US" sz="2000" spc="-1" strike="noStrike">
                <a:latin typeface="Arial"/>
              </a:rPr>
              <a:t>Sorul</a:t>
            </a:r>
            <a:r>
              <a:rPr b="0" lang="en-US" sz="2000" spc="-1" strike="noStrike">
                <a:latin typeface="Arial"/>
              </a:rPr>
              <a:t>arda </a:t>
            </a:r>
            <a:r>
              <a:rPr b="0" lang="en-US" sz="2000" spc="-1" strike="noStrike">
                <a:latin typeface="Arial"/>
              </a:rPr>
              <a:t>mima</a:t>
            </a:r>
            <a:r>
              <a:rPr b="0" lang="en-US" sz="2000" spc="-1" strike="noStrike">
                <a:latin typeface="Arial"/>
              </a:rPr>
              <a:t>ri </a:t>
            </a:r>
            <a:r>
              <a:rPr b="0" lang="en-US" sz="2000" spc="-1" strike="noStrike">
                <a:latin typeface="Arial"/>
              </a:rPr>
              <a:t>kararl</a:t>
            </a:r>
            <a:r>
              <a:rPr b="0" lang="en-US" sz="2000" spc="-1" strike="noStrike">
                <a:latin typeface="Arial"/>
              </a:rPr>
              <a:t>arın </a:t>
            </a:r>
            <a:r>
              <a:rPr b="0" lang="en-US" sz="2000" spc="-1" strike="noStrike">
                <a:latin typeface="Arial"/>
              </a:rPr>
              <a:t>gerek</a:t>
            </a:r>
            <a:r>
              <a:rPr b="0" lang="en-US" sz="2000" spc="-1" strike="noStrike">
                <a:latin typeface="Arial"/>
              </a:rPr>
              <a:t>çesi </a:t>
            </a:r>
            <a:r>
              <a:rPr b="0" lang="en-US" sz="2000" spc="-1" strike="noStrike">
                <a:latin typeface="Arial"/>
              </a:rPr>
              <a:t>burad</a:t>
            </a:r>
            <a:r>
              <a:rPr b="0" lang="en-US" sz="2000" spc="-1" strike="noStrike">
                <a:latin typeface="Arial"/>
              </a:rPr>
              <a:t>a.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90DF80C-A06E-42F7-940B-4BD954E1640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Demoda engel sürüklemeyi mutlaka göster — en etkileyici an.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4AD2D36-01ED-472F-82A1-6E443B88E5B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Kritik ayrım: mevcut maliyet 'bugün' senaryosu, lisans+filo 'Tusmec ile' senaryosu. İkisi karşılaştırılır.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263C06-1AB2-463A-9629-86D8E9D314C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Grafikte kesişme ~4. ay civarı = geri ödeme anı. Satış anlatısının kalbi bu slayt.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D2F23D9-A127-4EBE-AC72-B58D79DCC4F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PDF akışı: Chart.js grafiği PNG olarak sunucuya gönderilir, ReportLab rapora gömer.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FB00B3-D8E1-4B4C-BA29-4D1C68631B9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Her satır için kanıt hazır: canlı demo, test çıktısı, README doğrulama tablosu, video dosyası.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0EA808-2FE9-40BB-B3DB-8C7D306CEF9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Teknik olmayan ders en değerlisi: belirsizlikte seçenekli soru sormak.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9A6F09A-A72D-4FAD-BDB2-43B14C49442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Uzun vade sütunu şirket vizyonuna bağlanıyor: demo aracı → dijital ikiz yolu.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42D8405-45E4-4C59-8F38-A7A744B879F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Soru-cevap min. 30 dk: mimari kararlar, ROI matematiği ve kalibrasyon konularına hazırlıklı ol.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0B6BF9E-766E-490E-B5B8-0585ECA8E00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9326880" y="-2011680"/>
            <a:ext cx="5851800" cy="5851800"/>
          </a:xfrm>
          <a:prstGeom prst="ellipse">
            <a:avLst/>
          </a:prstGeom>
          <a:solidFill>
            <a:srgbClr val="1e33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-1645920" y="4754880"/>
            <a:ext cx="4205880" cy="4205880"/>
          </a:xfrm>
          <a:prstGeom prst="ellipse">
            <a:avLst/>
          </a:prstGeom>
          <a:solidFill>
            <a:srgbClr val="1e33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822960" y="155448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599" strike="noStrike">
                <a:solidFill>
                  <a:srgbClr val="ffffff"/>
                </a:solidFill>
                <a:latin typeface="Calibri"/>
                <a:ea typeface="Calibri"/>
              </a:rPr>
              <a:t>TUSMEC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822960" y="2423160"/>
            <a:ext cx="10515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2bbfc4"/>
                </a:solidFill>
                <a:latin typeface="Calibri"/>
                <a:ea typeface="Calibri"/>
              </a:rPr>
              <a:t>Heterojen Sürü Simülasyon ve ROI Demo Platformu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822960" y="397764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cadcfc"/>
                </a:solidFill>
                <a:latin typeface="Calibri"/>
                <a:ea typeface="Calibri"/>
              </a:rPr>
              <a:t>Staj Final Sunumu · Hafta 1–4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822960" y="557784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8fa3bf"/>
                </a:solidFill>
                <a:latin typeface="Calibri"/>
                <a:ea typeface="Calibri"/>
              </a:rPr>
              <a:t>Ayşe Feyza Serbest — Bilgisayar Mühendisliği, Gebze Teknik Üniversitesi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8fa3bf"/>
                </a:solidFill>
                <a:latin typeface="Calibri"/>
                <a:ea typeface="Calibri"/>
              </a:rPr>
              <a:t>Tusmec Karma Robot Teknolojileri A.Ş. · Temmuz 2026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54864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d92"/>
                </a:solidFill>
                <a:latin typeface="Calibri"/>
                <a:ea typeface="Calibri"/>
              </a:rPr>
              <a:t>AJANDA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548640" y="5302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63f"/>
                </a:solidFill>
                <a:latin typeface="Calibri"/>
                <a:ea typeface="Calibri"/>
              </a:rPr>
              <a:t>Sunum Akışı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731520" y="1600200"/>
            <a:ext cx="658080" cy="658080"/>
          </a:xfrm>
          <a:prstGeom prst="ellipse">
            <a:avLst/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3" name="Image 0" descr="preencoded.png"/>
          <p:cNvPicPr/>
          <p:nvPr/>
        </p:nvPicPr>
        <p:blipFill>
          <a:blip r:embed="rId1"/>
          <a:stretch/>
        </p:blipFill>
        <p:spPr>
          <a:xfrm>
            <a:off x="902520" y="1771200"/>
            <a:ext cx="315720" cy="315720"/>
          </a:xfrm>
          <a:prstGeom prst="rect">
            <a:avLst/>
          </a:prstGeom>
          <a:ln w="0">
            <a:noFill/>
          </a:ln>
        </p:spPr>
      </p:pic>
      <p:sp>
        <p:nvSpPr>
          <p:cNvPr id="54" name="Text 3"/>
          <p:cNvSpPr/>
          <p:nvPr/>
        </p:nvSpPr>
        <p:spPr>
          <a:xfrm>
            <a:off x="1691640" y="161856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6263f"/>
                </a:solidFill>
                <a:latin typeface="Calibri"/>
                <a:ea typeface="Calibri"/>
              </a:rPr>
              <a:t>Hafta 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1691640" y="196596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a6b84"/>
                </a:solidFill>
                <a:latin typeface="Calibri"/>
                <a:ea typeface="Calibri"/>
              </a:rPr>
              <a:t>Şirket, TusCore platformu ve rekabet analizi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731520" y="2587680"/>
            <a:ext cx="658080" cy="658080"/>
          </a:xfrm>
          <a:prstGeom prst="ellipse">
            <a:avLst/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7" name="Image 1" descr="preencoded.png"/>
          <p:cNvPicPr/>
          <p:nvPr/>
        </p:nvPicPr>
        <p:blipFill>
          <a:blip r:embed="rId2"/>
          <a:stretch/>
        </p:blipFill>
        <p:spPr>
          <a:xfrm>
            <a:off x="902520" y="2759040"/>
            <a:ext cx="315720" cy="315720"/>
          </a:xfrm>
          <a:prstGeom prst="rect">
            <a:avLst/>
          </a:prstGeom>
          <a:ln w="0">
            <a:noFill/>
          </a:ln>
        </p:spPr>
      </p:pic>
      <p:sp>
        <p:nvSpPr>
          <p:cNvPr id="58" name="Text 6"/>
          <p:cNvSpPr/>
          <p:nvPr/>
        </p:nvSpPr>
        <p:spPr>
          <a:xfrm>
            <a:off x="1691640" y="26060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6263f"/>
                </a:solidFill>
                <a:latin typeface="Calibri"/>
                <a:ea typeface="Calibri"/>
              </a:rPr>
              <a:t>Hafta 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1691640" y="295344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a6b84"/>
                </a:solidFill>
                <a:latin typeface="Calibri"/>
                <a:ea typeface="Calibri"/>
              </a:rPr>
              <a:t>Heterojen sürü simülasyon motoru (Python)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0" name="Shape 8"/>
          <p:cNvSpPr/>
          <p:nvPr/>
        </p:nvSpPr>
        <p:spPr>
          <a:xfrm>
            <a:off x="731520" y="3575160"/>
            <a:ext cx="658080" cy="658080"/>
          </a:xfrm>
          <a:prstGeom prst="ellipse">
            <a:avLst/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61" name="Image 2" descr="preencoded.png"/>
          <p:cNvPicPr/>
          <p:nvPr/>
        </p:nvPicPr>
        <p:blipFill>
          <a:blip r:embed="rId3"/>
          <a:stretch/>
        </p:blipFill>
        <p:spPr>
          <a:xfrm>
            <a:off x="902520" y="3746520"/>
            <a:ext cx="315720" cy="315720"/>
          </a:xfrm>
          <a:prstGeom prst="rect">
            <a:avLst/>
          </a:prstGeom>
          <a:ln w="0">
            <a:noFill/>
          </a:ln>
        </p:spPr>
      </p:pic>
      <p:sp>
        <p:nvSpPr>
          <p:cNvPr id="62" name="Text 9"/>
          <p:cNvSpPr/>
          <p:nvPr/>
        </p:nvSpPr>
        <p:spPr>
          <a:xfrm>
            <a:off x="1691640" y="359352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6263f"/>
                </a:solidFill>
                <a:latin typeface="Calibri"/>
                <a:ea typeface="Calibri"/>
              </a:rPr>
              <a:t>Hafta 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1691640" y="394092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a6b84"/>
                </a:solidFill>
                <a:latin typeface="Calibri"/>
                <a:ea typeface="Calibri"/>
              </a:rPr>
              <a:t>Web arayüzü + ROI hesaplama modülü (Django)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4" name="Shape 11"/>
          <p:cNvSpPr/>
          <p:nvPr/>
        </p:nvSpPr>
        <p:spPr>
          <a:xfrm>
            <a:off x="731520" y="4563000"/>
            <a:ext cx="658080" cy="658080"/>
          </a:xfrm>
          <a:prstGeom prst="ellipse">
            <a:avLst/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65" name="Image 3" descr="preencoded.png"/>
          <p:cNvPicPr/>
          <p:nvPr/>
        </p:nvPicPr>
        <p:blipFill>
          <a:blip r:embed="rId4"/>
          <a:stretch/>
        </p:blipFill>
        <p:spPr>
          <a:xfrm>
            <a:off x="902520" y="4734000"/>
            <a:ext cx="315720" cy="315720"/>
          </a:xfrm>
          <a:prstGeom prst="rect">
            <a:avLst/>
          </a:prstGeom>
          <a:ln w="0">
            <a:noFill/>
          </a:ln>
        </p:spPr>
      </p:pic>
      <p:sp>
        <p:nvSpPr>
          <p:cNvPr id="66" name="Text 12"/>
          <p:cNvSpPr/>
          <p:nvPr/>
        </p:nvSpPr>
        <p:spPr>
          <a:xfrm>
            <a:off x="1691640" y="458100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6263f"/>
                </a:solidFill>
                <a:latin typeface="Calibri"/>
                <a:ea typeface="Calibri"/>
              </a:rPr>
              <a:t>Hafta 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1691640" y="492876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a6b84"/>
                </a:solidFill>
                <a:latin typeface="Calibri"/>
                <a:ea typeface="Calibri"/>
              </a:rPr>
              <a:t>Polish, dokümantasyon ve canlı demo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731520" y="5550480"/>
            <a:ext cx="658080" cy="658080"/>
          </a:xfrm>
          <a:prstGeom prst="ellipse">
            <a:avLst/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69" name="Image 4" descr="preencoded.png"/>
          <p:cNvPicPr/>
          <p:nvPr/>
        </p:nvPicPr>
        <p:blipFill>
          <a:blip r:embed="rId5"/>
          <a:stretch/>
        </p:blipFill>
        <p:spPr>
          <a:xfrm>
            <a:off x="902520" y="5721480"/>
            <a:ext cx="315720" cy="315720"/>
          </a:xfrm>
          <a:prstGeom prst="rect">
            <a:avLst/>
          </a:prstGeom>
          <a:ln w="0">
            <a:noFill/>
          </a:ln>
        </p:spPr>
      </p:pic>
      <p:sp>
        <p:nvSpPr>
          <p:cNvPr id="70" name="Text 15"/>
          <p:cNvSpPr/>
          <p:nvPr/>
        </p:nvSpPr>
        <p:spPr>
          <a:xfrm>
            <a:off x="1691640" y="55688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6263f"/>
                </a:solidFill>
                <a:latin typeface="Calibri"/>
                <a:ea typeface="Calibri"/>
              </a:rPr>
              <a:t>Kapanış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1" name="Text 16"/>
          <p:cNvSpPr/>
          <p:nvPr/>
        </p:nvSpPr>
        <p:spPr>
          <a:xfrm>
            <a:off x="1691640" y="591624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a6b84"/>
                </a:solidFill>
                <a:latin typeface="Calibri"/>
                <a:ea typeface="Calibri"/>
              </a:rPr>
              <a:t>Öğrenilenler, öneriler ve soru-cevap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54864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d92"/>
                </a:solidFill>
                <a:latin typeface="Calibri"/>
                <a:ea typeface="Calibri"/>
              </a:rPr>
              <a:t>PROJE YOLCULUĞU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548640" y="5302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63f"/>
                </a:solidFill>
                <a:latin typeface="Calibri"/>
                <a:ea typeface="Calibri"/>
              </a:rPr>
              <a:t>Dört Haftada Fikirden Ürüne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4" name="Shape 2"/>
          <p:cNvSpPr/>
          <p:nvPr/>
        </p:nvSpPr>
        <p:spPr>
          <a:xfrm>
            <a:off x="914400" y="3291840"/>
            <a:ext cx="10332720" cy="360"/>
          </a:xfrm>
          <a:prstGeom prst="line">
            <a:avLst/>
          </a:prstGeom>
          <a:ln w="38100">
            <a:solidFill>
              <a:srgbClr val="0e8d9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Shape 3"/>
          <p:cNvSpPr/>
          <p:nvPr/>
        </p:nvSpPr>
        <p:spPr>
          <a:xfrm>
            <a:off x="1481400" y="3090600"/>
            <a:ext cx="402120" cy="402120"/>
          </a:xfrm>
          <a:prstGeom prst="ellipse">
            <a:avLst/>
          </a:prstGeom>
          <a:solidFill>
            <a:srgbClr val="162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4"/>
          <p:cNvSpPr/>
          <p:nvPr/>
        </p:nvSpPr>
        <p:spPr>
          <a:xfrm>
            <a:off x="1481400" y="30906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7" name="Shape 5"/>
          <p:cNvSpPr/>
          <p:nvPr/>
        </p:nvSpPr>
        <p:spPr>
          <a:xfrm>
            <a:off x="685800" y="1554480"/>
            <a:ext cx="2468520" cy="137124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6"/>
          <p:cNvSpPr/>
          <p:nvPr/>
        </p:nvSpPr>
        <p:spPr>
          <a:xfrm>
            <a:off x="822960" y="1645920"/>
            <a:ext cx="223992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0e8d92"/>
                </a:solidFill>
                <a:latin typeface="Calibri"/>
                <a:ea typeface="Calibri"/>
              </a:rPr>
              <a:t>Hafta 1 · %15</a:t>
            </a:r>
            <a:endParaRPr b="0" lang="en-US" sz="1100" spc="-1" strike="noStrike">
              <a:latin typeface="Arial"/>
            </a:endParaRPr>
          </a:p>
          <a:p>
            <a:r>
              <a:rPr b="1" lang="en-US" sz="1500" spc="-1" strike="noStrike">
                <a:solidFill>
                  <a:srgbClr val="16263f"/>
                </a:solidFill>
                <a:latin typeface="Calibri"/>
                <a:ea typeface="Calibri"/>
              </a:rPr>
              <a:t>Faaliyet Raporu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a6b84"/>
                </a:solidFill>
                <a:latin typeface="Calibri"/>
                <a:ea typeface="Calibri"/>
              </a:rPr>
              <a:t>Şirket + pazar analizi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a6b84"/>
                </a:solidFill>
                <a:latin typeface="Calibri"/>
                <a:ea typeface="Calibri"/>
              </a:rPr>
              <a:t>7 rakip incelendi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79" name="Shape 7"/>
          <p:cNvSpPr/>
          <p:nvPr/>
        </p:nvSpPr>
        <p:spPr>
          <a:xfrm>
            <a:off x="4316040" y="3090600"/>
            <a:ext cx="402120" cy="402120"/>
          </a:xfrm>
          <a:prstGeom prst="ellipse">
            <a:avLst/>
          </a:prstGeom>
          <a:solidFill>
            <a:srgbClr val="162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8"/>
          <p:cNvSpPr/>
          <p:nvPr/>
        </p:nvSpPr>
        <p:spPr>
          <a:xfrm>
            <a:off x="4316040" y="30906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1" name="Shape 9"/>
          <p:cNvSpPr/>
          <p:nvPr/>
        </p:nvSpPr>
        <p:spPr>
          <a:xfrm>
            <a:off x="3520440" y="3977640"/>
            <a:ext cx="2468520" cy="1371240"/>
          </a:xfrm>
          <a:prstGeom prst="roundRect">
            <a:avLst>
              <a:gd name="adj" fmla="val 5333"/>
            </a:avLst>
          </a:prstGeom>
          <a:solidFill>
            <a:srgbClr val="e7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10"/>
          <p:cNvSpPr/>
          <p:nvPr/>
        </p:nvSpPr>
        <p:spPr>
          <a:xfrm>
            <a:off x="3657600" y="4069080"/>
            <a:ext cx="223992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0e8d92"/>
                </a:solidFill>
                <a:latin typeface="Calibri"/>
                <a:ea typeface="Calibri"/>
              </a:rPr>
              <a:t>Hafta 2 · %25</a:t>
            </a:r>
            <a:endParaRPr b="0" lang="en-US" sz="1100" spc="-1" strike="noStrike">
              <a:latin typeface="Arial"/>
            </a:endParaRPr>
          </a:p>
          <a:p>
            <a:r>
              <a:rPr b="1" lang="en-US" sz="1500" spc="-1" strike="noStrike">
                <a:solidFill>
                  <a:srgbClr val="16263f"/>
                </a:solidFill>
                <a:latin typeface="Calibri"/>
                <a:ea typeface="Calibri"/>
              </a:rPr>
              <a:t>Simülasyon Motoru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a6b84"/>
                </a:solidFill>
                <a:latin typeface="Calibri"/>
                <a:ea typeface="Calibri"/>
              </a:rPr>
              <a:t>6 ajan tipi, APF/PAPF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a6b84"/>
                </a:solidFill>
                <a:latin typeface="Calibri"/>
                <a:ea typeface="Calibri"/>
              </a:rPr>
              <a:t>83 birim testi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3" name="Shape 11"/>
          <p:cNvSpPr/>
          <p:nvPr/>
        </p:nvSpPr>
        <p:spPr>
          <a:xfrm>
            <a:off x="7150680" y="3090600"/>
            <a:ext cx="402120" cy="402120"/>
          </a:xfrm>
          <a:prstGeom prst="ellipse">
            <a:avLst/>
          </a:prstGeom>
          <a:solidFill>
            <a:srgbClr val="162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12"/>
          <p:cNvSpPr/>
          <p:nvPr/>
        </p:nvSpPr>
        <p:spPr>
          <a:xfrm>
            <a:off x="7150680" y="30906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6355080" y="1554480"/>
            <a:ext cx="2468520" cy="1371240"/>
          </a:xfrm>
          <a:prstGeom prst="roundRect">
            <a:avLst>
              <a:gd name="adj" fmla="val 5333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14"/>
          <p:cNvSpPr/>
          <p:nvPr/>
        </p:nvSpPr>
        <p:spPr>
          <a:xfrm>
            <a:off x="6492240" y="1645920"/>
            <a:ext cx="223992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0e8d92"/>
                </a:solidFill>
                <a:latin typeface="Calibri"/>
                <a:ea typeface="Calibri"/>
              </a:rPr>
              <a:t>Hafta 3 · %40</a:t>
            </a:r>
            <a:endParaRPr b="0" lang="en-US" sz="1100" spc="-1" strike="noStrike">
              <a:latin typeface="Arial"/>
            </a:endParaRPr>
          </a:p>
          <a:p>
            <a:r>
              <a:rPr b="1" lang="en-US" sz="1500" spc="-1" strike="noStrike">
                <a:solidFill>
                  <a:srgbClr val="16263f"/>
                </a:solidFill>
                <a:latin typeface="Calibri"/>
                <a:ea typeface="Calibri"/>
              </a:rPr>
              <a:t>Web + ROI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a6b84"/>
                </a:solidFill>
                <a:latin typeface="Calibri"/>
                <a:ea typeface="Calibri"/>
              </a:rPr>
              <a:t>Django API, canlı konsol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a6b84"/>
                </a:solidFill>
                <a:latin typeface="Calibri"/>
                <a:ea typeface="Calibri"/>
              </a:rPr>
              <a:t>ROI + PDF raporu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7" name="Shape 15"/>
          <p:cNvSpPr/>
          <p:nvPr/>
        </p:nvSpPr>
        <p:spPr>
          <a:xfrm>
            <a:off x="9985320" y="3090600"/>
            <a:ext cx="402120" cy="402120"/>
          </a:xfrm>
          <a:prstGeom prst="ellipse">
            <a:avLst/>
          </a:prstGeom>
          <a:solidFill>
            <a:srgbClr val="0e8d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16"/>
          <p:cNvSpPr/>
          <p:nvPr/>
        </p:nvSpPr>
        <p:spPr>
          <a:xfrm>
            <a:off x="9985320" y="30906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9" name="Shape 17"/>
          <p:cNvSpPr/>
          <p:nvPr/>
        </p:nvSpPr>
        <p:spPr>
          <a:xfrm>
            <a:off x="9189720" y="3977640"/>
            <a:ext cx="2468520" cy="1371240"/>
          </a:xfrm>
          <a:prstGeom prst="roundRect">
            <a:avLst>
              <a:gd name="adj" fmla="val 5333"/>
            </a:avLst>
          </a:prstGeom>
          <a:solidFill>
            <a:srgbClr val="e7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18"/>
          <p:cNvSpPr/>
          <p:nvPr/>
        </p:nvSpPr>
        <p:spPr>
          <a:xfrm>
            <a:off x="9326880" y="4069080"/>
            <a:ext cx="223992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0e8d92"/>
                </a:solidFill>
                <a:latin typeface="Calibri"/>
                <a:ea typeface="Calibri"/>
              </a:rPr>
              <a:t>Hafta 4 · %20</a:t>
            </a:r>
            <a:endParaRPr b="0" lang="en-US" sz="1100" spc="-1" strike="noStrike">
              <a:latin typeface="Arial"/>
            </a:endParaRPr>
          </a:p>
          <a:p>
            <a:r>
              <a:rPr b="1" lang="en-US" sz="1500" spc="-1" strike="noStrike">
                <a:solidFill>
                  <a:srgbClr val="16263f"/>
                </a:solidFill>
                <a:latin typeface="Calibri"/>
                <a:ea typeface="Calibri"/>
              </a:rPr>
              <a:t>Final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a6b84"/>
                </a:solidFill>
                <a:latin typeface="Calibri"/>
                <a:ea typeface="Calibri"/>
              </a:rPr>
              <a:t>Dokümantasyon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a6b84"/>
                </a:solidFill>
                <a:latin typeface="Calibri"/>
                <a:ea typeface="Calibri"/>
              </a:rPr>
              <a:t>canlı demo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1" name="Text 19"/>
          <p:cNvSpPr/>
          <p:nvPr/>
        </p:nvSpPr>
        <p:spPr>
          <a:xfrm>
            <a:off x="548640" y="6035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a6b84"/>
                </a:solidFill>
                <a:latin typeface="Calibri"/>
                <a:ea typeface="Calibri"/>
              </a:rPr>
              <a:t>Ağırlıklar staj değerlendirme kriterlerindeki hafta katkılarıdır · geçme eşiği her hafta %75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54864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d92"/>
                </a:solidFill>
                <a:latin typeface="Calibri"/>
                <a:ea typeface="Calibri"/>
              </a:rPr>
              <a:t>HAFTA 1 · FAALİYET RAPORU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548640" y="5302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63f"/>
                </a:solidFill>
                <a:latin typeface="Calibri"/>
                <a:ea typeface="Calibri"/>
              </a:rPr>
              <a:t>Şirketi ve Pazarı Tanımak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94" name="Shape 2"/>
          <p:cNvSpPr/>
          <p:nvPr/>
        </p:nvSpPr>
        <p:spPr>
          <a:xfrm>
            <a:off x="548640" y="1554480"/>
            <a:ext cx="2651400" cy="1737000"/>
          </a:xfrm>
          <a:prstGeom prst="roundRect">
            <a:avLst>
              <a:gd name="adj" fmla="val 4211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3"/>
          <p:cNvSpPr/>
          <p:nvPr/>
        </p:nvSpPr>
        <p:spPr>
          <a:xfrm>
            <a:off x="548640" y="1691640"/>
            <a:ext cx="2651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e8d92"/>
                </a:solidFill>
                <a:latin typeface="Calibri"/>
                <a:ea typeface="Calibri"/>
              </a:rPr>
              <a:t>45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731520" y="256032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5a6b84"/>
                </a:solidFill>
                <a:latin typeface="Calibri"/>
                <a:ea typeface="Calibri"/>
              </a:rPr>
              <a:t>B2B müşteri ve iş ortağı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97" name="Shape 5"/>
          <p:cNvSpPr/>
          <p:nvPr/>
        </p:nvSpPr>
        <p:spPr>
          <a:xfrm>
            <a:off x="3429000" y="1554480"/>
            <a:ext cx="2651400" cy="1737000"/>
          </a:xfrm>
          <a:prstGeom prst="roundRect">
            <a:avLst>
              <a:gd name="adj" fmla="val 4211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6"/>
          <p:cNvSpPr/>
          <p:nvPr/>
        </p:nvSpPr>
        <p:spPr>
          <a:xfrm>
            <a:off x="3429000" y="1691640"/>
            <a:ext cx="2651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e8d92"/>
                </a:solidFill>
                <a:latin typeface="Calibri"/>
                <a:ea typeface="Calibri"/>
              </a:rPr>
              <a:t>7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3611880" y="256032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5a6b84"/>
                </a:solidFill>
                <a:latin typeface="Calibri"/>
                <a:ea typeface="Calibri"/>
              </a:rPr>
              <a:t>incelenen rakip firma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00" name="Shape 8"/>
          <p:cNvSpPr/>
          <p:nvPr/>
        </p:nvSpPr>
        <p:spPr>
          <a:xfrm>
            <a:off x="6309360" y="1554480"/>
            <a:ext cx="2651400" cy="1737000"/>
          </a:xfrm>
          <a:prstGeom prst="roundRect">
            <a:avLst>
              <a:gd name="adj" fmla="val 4211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9"/>
          <p:cNvSpPr/>
          <p:nvPr/>
        </p:nvSpPr>
        <p:spPr>
          <a:xfrm>
            <a:off x="6309360" y="1691640"/>
            <a:ext cx="2651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e8d92"/>
                </a:solidFill>
                <a:latin typeface="Calibri"/>
                <a:ea typeface="Calibri"/>
              </a:rPr>
              <a:t>%27,5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6492240" y="256032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5a6b84"/>
                </a:solidFill>
                <a:latin typeface="Calibri"/>
                <a:ea typeface="Calibri"/>
              </a:rPr>
              <a:t>pazar CAGR (2025–2030)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03" name="Shape 11"/>
          <p:cNvSpPr/>
          <p:nvPr/>
        </p:nvSpPr>
        <p:spPr>
          <a:xfrm>
            <a:off x="9189720" y="1554480"/>
            <a:ext cx="2651400" cy="1737000"/>
          </a:xfrm>
          <a:prstGeom prst="roundRect">
            <a:avLst>
              <a:gd name="adj" fmla="val 4211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12"/>
          <p:cNvSpPr/>
          <p:nvPr/>
        </p:nvSpPr>
        <p:spPr>
          <a:xfrm>
            <a:off x="9189720" y="1691640"/>
            <a:ext cx="2651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e8d92"/>
                </a:solidFill>
                <a:latin typeface="Calibri"/>
                <a:ea typeface="Calibri"/>
              </a:rPr>
              <a:t>4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9372600" y="256032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5a6b84"/>
                </a:solidFill>
                <a:latin typeface="Calibri"/>
                <a:ea typeface="Calibri"/>
              </a:rPr>
              <a:t>hedef sektör, tek platform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06" name="Text 14"/>
          <p:cNvSpPr/>
          <p:nvPr/>
        </p:nvSpPr>
        <p:spPr>
          <a:xfrm>
            <a:off x="548640" y="37033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3f"/>
                </a:solidFill>
                <a:latin typeface="Calibri"/>
                <a:ea typeface="Calibri"/>
              </a:rPr>
              <a:t>Temel bulgu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7" name="Text 15"/>
          <p:cNvSpPr/>
          <p:nvPr/>
        </p:nvSpPr>
        <p:spPr>
          <a:xfrm>
            <a:off x="548640" y="4114800"/>
            <a:ext cx="10881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450" spc="-1" strike="noStrike">
                <a:solidFill>
                  <a:srgbClr val="16263f"/>
                </a:solidFill>
                <a:latin typeface="Calibri"/>
                <a:ea typeface="Calibri"/>
              </a:rPr>
              <a:t>İncelenen 7 rakibin hiçbiri Tusmec'in 4 sektörlü kapsamını tek platformda birleştirmiyor; çoğu tek sektörde derinleşmiş donanım oyuncusu.</a:t>
            </a:r>
            <a:endParaRPr b="0" lang="en-US" sz="14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450" spc="-1" strike="noStrike">
                <a:solidFill>
                  <a:srgbClr val="16263f"/>
                </a:solidFill>
                <a:latin typeface="Calibri"/>
                <a:ea typeface="Calibri"/>
              </a:rPr>
              <a:t>TusCore'un yazılım-merkezli heterojen koordinasyon yaklaşımına kavramsal olarak en yakın küresel örnek: Anduril Lattice.</a:t>
            </a:r>
            <a:endParaRPr b="0" lang="en-US" sz="14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450" spc="-1" strike="noStrike">
                <a:solidFill>
                  <a:srgbClr val="16263f"/>
                </a:solidFill>
                <a:latin typeface="Calibri"/>
                <a:ea typeface="Calibri"/>
              </a:rPr>
              <a:t>Rapor önerilerimden biri Hafta 3'ü doğrudan besledi: ROI modülü için segment bazlı operasyon maliyeti verilerinin dokümante edilmesi.</a:t>
            </a:r>
            <a:endParaRPr b="0" lang="en-US" sz="14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54864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d92"/>
                </a:solidFill>
                <a:latin typeface="Calibri"/>
                <a:ea typeface="Calibri"/>
              </a:rPr>
              <a:t>HAFTA 2 · MİMARİ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548640" y="5302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63f"/>
                </a:solidFill>
                <a:latin typeface="Calibri"/>
                <a:ea typeface="Calibri"/>
              </a:rPr>
              <a:t>TusCore Simülasyon Motoru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10" name="Shape 2"/>
          <p:cNvSpPr/>
          <p:nvPr/>
        </p:nvSpPr>
        <p:spPr>
          <a:xfrm>
            <a:off x="548640" y="1645920"/>
            <a:ext cx="3474360" cy="123408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3"/>
          <p:cNvSpPr/>
          <p:nvPr/>
        </p:nvSpPr>
        <p:spPr>
          <a:xfrm>
            <a:off x="777240" y="181044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e8d92"/>
                </a:solidFill>
                <a:latin typeface="Courier New"/>
                <a:ea typeface="Courier New"/>
              </a:rPr>
              <a:t>agents.py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777240" y="219456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5a6b84"/>
                </a:solidFill>
                <a:latin typeface="Calibri"/>
                <a:ea typeface="Calibri"/>
              </a:rPr>
              <a:t>6 heterojen ajan tipi ve spec'leri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13" name="Shape 5"/>
          <p:cNvSpPr/>
          <p:nvPr/>
        </p:nvSpPr>
        <p:spPr>
          <a:xfrm>
            <a:off x="4206240" y="1645920"/>
            <a:ext cx="3474360" cy="123408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6"/>
          <p:cNvSpPr/>
          <p:nvPr/>
        </p:nvSpPr>
        <p:spPr>
          <a:xfrm>
            <a:off x="4434840" y="181044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e8d92"/>
                </a:solidFill>
                <a:latin typeface="Courier New"/>
                <a:ea typeface="Courier New"/>
              </a:rPr>
              <a:t>coordination.py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5" name="Text 7"/>
          <p:cNvSpPr/>
          <p:nvPr/>
        </p:nvSpPr>
        <p:spPr>
          <a:xfrm>
            <a:off x="4434840" y="219456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5a6b84"/>
                </a:solidFill>
                <a:latin typeface="Calibri"/>
                <a:ea typeface="Calibri"/>
              </a:rPr>
              <a:t>APF + PAPF sürü koordinasyonu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16" name="Shape 8"/>
          <p:cNvSpPr/>
          <p:nvPr/>
        </p:nvSpPr>
        <p:spPr>
          <a:xfrm>
            <a:off x="548640" y="3063240"/>
            <a:ext cx="3474360" cy="123408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9"/>
          <p:cNvSpPr/>
          <p:nvPr/>
        </p:nvSpPr>
        <p:spPr>
          <a:xfrm>
            <a:off x="777240" y="322776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e8d92"/>
                </a:solidFill>
                <a:latin typeface="Courier New"/>
                <a:ea typeface="Courier New"/>
              </a:rPr>
              <a:t>engine.py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777240" y="361188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5a6b84"/>
                </a:solidFill>
                <a:latin typeface="Calibri"/>
                <a:ea typeface="Calibri"/>
              </a:rPr>
              <a:t>20 Hz tick döngüsü ve istatistikler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19" name="Shape 11"/>
          <p:cNvSpPr/>
          <p:nvPr/>
        </p:nvSpPr>
        <p:spPr>
          <a:xfrm>
            <a:off x="4206240" y="3063240"/>
            <a:ext cx="3474360" cy="123408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12"/>
          <p:cNvSpPr/>
          <p:nvPr/>
        </p:nvSpPr>
        <p:spPr>
          <a:xfrm>
            <a:off x="4434840" y="322776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e8d92"/>
                </a:solidFill>
                <a:latin typeface="Courier New"/>
                <a:ea typeface="Courier New"/>
              </a:rPr>
              <a:t>environment.py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21" name="Text 13"/>
          <p:cNvSpPr/>
          <p:nvPr/>
        </p:nvSpPr>
        <p:spPr>
          <a:xfrm>
            <a:off x="4434840" y="361188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5a6b84"/>
                </a:solidFill>
                <a:latin typeface="Calibri"/>
                <a:ea typeface="Calibri"/>
              </a:rPr>
              <a:t>Dünya, silindirik engeller, sınırlar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22" name="Shape 14"/>
          <p:cNvSpPr/>
          <p:nvPr/>
        </p:nvSpPr>
        <p:spPr>
          <a:xfrm>
            <a:off x="548640" y="4480560"/>
            <a:ext cx="3474360" cy="123408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15"/>
          <p:cNvSpPr/>
          <p:nvPr/>
        </p:nvSpPr>
        <p:spPr>
          <a:xfrm>
            <a:off x="777240" y="46450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e8d92"/>
                </a:solidFill>
                <a:latin typeface="Courier New"/>
                <a:ea typeface="Courier New"/>
              </a:rPr>
              <a:t>scenario.py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24" name="Text 16"/>
          <p:cNvSpPr/>
          <p:nvPr/>
        </p:nvSpPr>
        <p:spPr>
          <a:xfrm>
            <a:off x="777240" y="502920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5a6b84"/>
                </a:solidFill>
                <a:latin typeface="Calibri"/>
                <a:ea typeface="Calibri"/>
              </a:rPr>
              <a:t>Senaryo kurulumları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25" name="Shape 17"/>
          <p:cNvSpPr/>
          <p:nvPr/>
        </p:nvSpPr>
        <p:spPr>
          <a:xfrm>
            <a:off x="4206240" y="4480560"/>
            <a:ext cx="3474360" cy="123408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18"/>
          <p:cNvSpPr/>
          <p:nvPr/>
        </p:nvSpPr>
        <p:spPr>
          <a:xfrm>
            <a:off x="4434840" y="46450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e8d92"/>
                </a:solidFill>
                <a:latin typeface="Courier New"/>
                <a:ea typeface="Courier New"/>
              </a:rPr>
              <a:t>visualizer.py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27" name="Text 19"/>
          <p:cNvSpPr/>
          <p:nvPr/>
        </p:nvSpPr>
        <p:spPr>
          <a:xfrm>
            <a:off x="4434840" y="502920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5a6b84"/>
                </a:solidFill>
                <a:latin typeface="Calibri"/>
                <a:ea typeface="Calibri"/>
              </a:rPr>
              <a:t>Pygame canlı görselleştirme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28" name="Shape 20"/>
          <p:cNvSpPr/>
          <p:nvPr/>
        </p:nvSpPr>
        <p:spPr>
          <a:xfrm>
            <a:off x="8092440" y="1645920"/>
            <a:ext cx="3520080" cy="4023000"/>
          </a:xfrm>
          <a:prstGeom prst="roundRect">
            <a:avLst>
              <a:gd name="adj" fmla="val 2078"/>
            </a:avLst>
          </a:prstGeom>
          <a:solidFill>
            <a:srgbClr val="162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21"/>
          <p:cNvSpPr/>
          <p:nvPr/>
        </p:nvSpPr>
        <p:spPr>
          <a:xfrm>
            <a:off x="8366760" y="192024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bbfc4"/>
                </a:solidFill>
                <a:latin typeface="Calibri"/>
                <a:ea typeface="Calibri"/>
              </a:rPr>
              <a:t>Tasarım İlkesi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0" name="Text 22"/>
          <p:cNvSpPr/>
          <p:nvPr/>
        </p:nvSpPr>
        <p:spPr>
          <a:xfrm>
            <a:off x="8366760" y="237744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Calibri"/>
                <a:ea typeface="Calibri"/>
              </a:rPr>
              <a:t>Sense → Plan → Act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31" name="Text 23"/>
          <p:cNvSpPr/>
          <p:nvPr/>
        </p:nvSpPr>
        <p:spPr>
          <a:xfrm>
            <a:off x="8366760" y="2880360"/>
            <a:ext cx="30171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Her ajan her tick'te çevreyi algılar, strateji nesnesine danışır ve hareket eder. Motor çekirdeği görselleştirmeden tamamen bağımsızdır — bu ayrım sayesinde aynı motor pygame, RViz ve web'e değişmeden bağlandı.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54864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d92"/>
                </a:solidFill>
                <a:latin typeface="Calibri"/>
                <a:ea typeface="Calibri"/>
              </a:rPr>
              <a:t>HAFTA 2 · HETEROJEN FİLO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548640" y="5302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63f"/>
                </a:solidFill>
                <a:latin typeface="Calibri"/>
                <a:ea typeface="Calibri"/>
              </a:rPr>
              <a:t>Altı Ajan Tipi, Tek Koordinasyon Çekirdeği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34" name="Shape 2"/>
          <p:cNvSpPr/>
          <p:nvPr/>
        </p:nvSpPr>
        <p:spPr>
          <a:xfrm>
            <a:off x="548640" y="1691640"/>
            <a:ext cx="3565800" cy="1737000"/>
          </a:xfrm>
          <a:prstGeom prst="roundRect">
            <a:avLst>
              <a:gd name="adj" fmla="val 4211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3"/>
          <p:cNvSpPr/>
          <p:nvPr/>
        </p:nvSpPr>
        <p:spPr>
          <a:xfrm>
            <a:off x="777240" y="192024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🚁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36" name="Text 4"/>
          <p:cNvSpPr/>
          <p:nvPr/>
        </p:nvSpPr>
        <p:spPr>
          <a:xfrm>
            <a:off x="1645920" y="196596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6263f"/>
                </a:solidFill>
                <a:latin typeface="Calibri"/>
                <a:ea typeface="Calibri"/>
              </a:rPr>
              <a:t>UAV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777240" y="265176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5a6b84"/>
                </a:solidFill>
                <a:latin typeface="Calibri"/>
                <a:ea typeface="Calibri"/>
              </a:rPr>
              <a:t>Hava · 20 m irtifada alçak engellerin üzerinden aşar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4343400" y="1691640"/>
            <a:ext cx="3565800" cy="1737000"/>
          </a:xfrm>
          <a:prstGeom prst="roundRect">
            <a:avLst>
              <a:gd name="adj" fmla="val 4211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7"/>
          <p:cNvSpPr/>
          <p:nvPr/>
        </p:nvSpPr>
        <p:spPr>
          <a:xfrm>
            <a:off x="4572000" y="192024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🚙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5440680" y="196596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6263f"/>
                </a:solidFill>
                <a:latin typeface="Calibri"/>
                <a:ea typeface="Calibri"/>
              </a:rPr>
              <a:t>UGV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1" name="Text 9"/>
          <p:cNvSpPr/>
          <p:nvPr/>
        </p:nvSpPr>
        <p:spPr>
          <a:xfrm>
            <a:off x="4572000" y="265176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5a6b84"/>
                </a:solidFill>
                <a:latin typeface="Calibri"/>
                <a:ea typeface="Calibri"/>
              </a:rPr>
              <a:t>Kara · engebeli saha, orta hız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42" name="Shape 10"/>
          <p:cNvSpPr/>
          <p:nvPr/>
        </p:nvSpPr>
        <p:spPr>
          <a:xfrm>
            <a:off x="8138160" y="1691640"/>
            <a:ext cx="3565800" cy="1737000"/>
          </a:xfrm>
          <a:prstGeom prst="roundRect">
            <a:avLst>
              <a:gd name="adj" fmla="val 4211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11"/>
          <p:cNvSpPr/>
          <p:nvPr/>
        </p:nvSpPr>
        <p:spPr>
          <a:xfrm>
            <a:off x="8366760" y="192024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🤖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9235440" y="196596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6263f"/>
                </a:solidFill>
                <a:latin typeface="Calibri"/>
                <a:ea typeface="Calibri"/>
              </a:rPr>
              <a:t>AMR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5" name="Text 13"/>
          <p:cNvSpPr/>
          <p:nvPr/>
        </p:nvSpPr>
        <p:spPr>
          <a:xfrm>
            <a:off x="8366760" y="265176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5a6b84"/>
                </a:solidFill>
                <a:latin typeface="Calibri"/>
                <a:ea typeface="Calibri"/>
              </a:rPr>
              <a:t>Depo içi · hassas ve yavaş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46" name="Shape 14"/>
          <p:cNvSpPr/>
          <p:nvPr/>
        </p:nvSpPr>
        <p:spPr>
          <a:xfrm>
            <a:off x="548640" y="3657600"/>
            <a:ext cx="3565800" cy="1737000"/>
          </a:xfrm>
          <a:prstGeom prst="roundRect">
            <a:avLst>
              <a:gd name="adj" fmla="val 4211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5"/>
          <p:cNvSpPr/>
          <p:nvPr/>
        </p:nvSpPr>
        <p:spPr>
          <a:xfrm>
            <a:off x="777240" y="38862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🚤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48" name="Text 16"/>
          <p:cNvSpPr/>
          <p:nvPr/>
        </p:nvSpPr>
        <p:spPr>
          <a:xfrm>
            <a:off x="1645920" y="393192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6263f"/>
                </a:solidFill>
                <a:latin typeface="Calibri"/>
                <a:ea typeface="Calibri"/>
              </a:rPr>
              <a:t>USV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9" name="Text 17"/>
          <p:cNvSpPr/>
          <p:nvPr/>
        </p:nvSpPr>
        <p:spPr>
          <a:xfrm>
            <a:off x="777240" y="461772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5a6b84"/>
                </a:solidFill>
                <a:latin typeface="Calibri"/>
                <a:ea typeface="Calibri"/>
              </a:rPr>
              <a:t>Su üstü · yüzey görevleri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50" name="Shape 18"/>
          <p:cNvSpPr/>
          <p:nvPr/>
        </p:nvSpPr>
        <p:spPr>
          <a:xfrm>
            <a:off x="4343400" y="3657600"/>
            <a:ext cx="3565800" cy="1737000"/>
          </a:xfrm>
          <a:prstGeom prst="roundRect">
            <a:avLst>
              <a:gd name="adj" fmla="val 4211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19"/>
          <p:cNvSpPr/>
          <p:nvPr/>
        </p:nvSpPr>
        <p:spPr>
          <a:xfrm>
            <a:off x="4572000" y="38862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🐬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52" name="Text 20"/>
          <p:cNvSpPr/>
          <p:nvPr/>
        </p:nvSpPr>
        <p:spPr>
          <a:xfrm>
            <a:off x="5440680" y="393192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6263f"/>
                </a:solidFill>
                <a:latin typeface="Calibri"/>
                <a:ea typeface="Calibri"/>
              </a:rPr>
              <a:t>UUV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3" name="Text 21"/>
          <p:cNvSpPr/>
          <p:nvPr/>
        </p:nvSpPr>
        <p:spPr>
          <a:xfrm>
            <a:off x="4572000" y="461772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5a6b84"/>
                </a:solidFill>
                <a:latin typeface="Calibri"/>
                <a:ea typeface="Calibri"/>
              </a:rPr>
              <a:t>Su altı · derinlik kontrolü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54" name="Shape 22"/>
          <p:cNvSpPr/>
          <p:nvPr/>
        </p:nvSpPr>
        <p:spPr>
          <a:xfrm>
            <a:off x="8138160" y="3657600"/>
            <a:ext cx="3565800" cy="1737000"/>
          </a:xfrm>
          <a:prstGeom prst="roundRect">
            <a:avLst>
              <a:gd name="adj" fmla="val 4211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23"/>
          <p:cNvSpPr/>
          <p:nvPr/>
        </p:nvSpPr>
        <p:spPr>
          <a:xfrm>
            <a:off x="8366760" y="38862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🚀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56" name="Text 24"/>
          <p:cNvSpPr/>
          <p:nvPr/>
        </p:nvSpPr>
        <p:spPr>
          <a:xfrm>
            <a:off x="9235440" y="393192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6263f"/>
                </a:solidFill>
                <a:latin typeface="Calibri"/>
                <a:ea typeface="Calibri"/>
              </a:rPr>
              <a:t>Roket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7" name="Text 25"/>
          <p:cNvSpPr/>
          <p:nvPr/>
        </p:nvSpPr>
        <p:spPr>
          <a:xfrm>
            <a:off x="8366760" y="461772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5a6b84"/>
                </a:solidFill>
                <a:latin typeface="Calibri"/>
                <a:ea typeface="Calibri"/>
              </a:rPr>
              <a:t>Balistik profil · özel senaryolar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58" name="Text 26"/>
          <p:cNvSpPr/>
          <p:nvPr/>
        </p:nvSpPr>
        <p:spPr>
          <a:xfrm>
            <a:off x="548640" y="580644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0e8d92"/>
                </a:solidFill>
                <a:latin typeface="Calibri"/>
                <a:ea typeface="Calibri"/>
              </a:rPr>
              <a:t>Heterojenlik = farklı hız, ivme, sensör menzili ve maliyet profillerinin aynı görevde eşzamanlı koordinasyonu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54864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d92"/>
                </a:solidFill>
                <a:latin typeface="Calibri"/>
                <a:ea typeface="Calibri"/>
              </a:rPr>
              <a:t>HAFTA 2 · ALGORİTMA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548640" y="5302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63f"/>
                </a:solidFill>
                <a:latin typeface="Calibri"/>
                <a:ea typeface="Calibri"/>
              </a:rPr>
              <a:t>Koordinasyon: APF'den Öngörülü PAPF'ye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548640" y="160020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3"/>
          <p:cNvSpPr/>
          <p:nvPr/>
        </p:nvSpPr>
        <p:spPr>
          <a:xfrm>
            <a:off x="822960" y="182880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6263f"/>
                </a:solidFill>
                <a:latin typeface="Calibri"/>
                <a:ea typeface="Calibri"/>
              </a:rPr>
              <a:t>APF — Yapay Potansiyel Alan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822960" y="2331720"/>
            <a:ext cx="48459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16263f"/>
                </a:solidFill>
                <a:latin typeface="Calibri"/>
                <a:ea typeface="Calibri"/>
              </a:rPr>
              <a:t>Hedef çeker, engeller iter; kuvvet vektörleri toplanır</a:t>
            </a:r>
            <a:endParaRPr b="0" lang="en-US" sz="13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16263f"/>
                </a:solidFill>
                <a:latin typeface="Calibri"/>
                <a:ea typeface="Calibri"/>
              </a:rPr>
              <a:t>Basit, hızlı, her tick yeniden hesaplanır</a:t>
            </a:r>
            <a:endParaRPr b="0" lang="en-US" sz="13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16263f"/>
                </a:solidFill>
                <a:latin typeface="Calibri"/>
                <a:ea typeface="Calibri"/>
              </a:rPr>
              <a:t>Zayıf yönü: engele yaklaşana kadar tepki vermez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64" name="Shape 5"/>
          <p:cNvSpPr/>
          <p:nvPr/>
        </p:nvSpPr>
        <p:spPr>
          <a:xfrm>
            <a:off x="6263640" y="1600200"/>
            <a:ext cx="5394600" cy="3931560"/>
          </a:xfrm>
          <a:prstGeom prst="roundRect">
            <a:avLst>
              <a:gd name="adj" fmla="val 1860"/>
            </a:avLst>
          </a:prstGeom>
          <a:solidFill>
            <a:srgbClr val="e7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6"/>
          <p:cNvSpPr/>
          <p:nvPr/>
        </p:nvSpPr>
        <p:spPr>
          <a:xfrm>
            <a:off x="6537960" y="182880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0e8d92"/>
                </a:solidFill>
                <a:latin typeface="Calibri"/>
                <a:ea typeface="Calibri"/>
              </a:rPr>
              <a:t>PAPF — Öngörülü APF (varsayılan)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6537960" y="2331720"/>
            <a:ext cx="48459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16263f"/>
                </a:solidFill>
                <a:latin typeface="Calibri"/>
                <a:ea typeface="Calibri"/>
              </a:rPr>
              <a:t>Ajan, d metre ilerideki gelecekteki konumuna bakar</a:t>
            </a:r>
            <a:endParaRPr b="0" lang="en-US" sz="13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16263f"/>
                </a:solidFill>
                <a:latin typeface="Calibri"/>
                <a:ea typeface="Calibri"/>
              </a:rPr>
              <a:t>Kaçınma erken başlar, rotalar belirgin şekilde yumuşar</a:t>
            </a:r>
            <a:endParaRPr b="0" lang="en-US" sz="13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16263f"/>
                </a:solidFill>
                <a:latin typeface="Calibri"/>
                <a:ea typeface="Calibri"/>
              </a:rPr>
              <a:t>Ölçülü trade-off: daha büyük d = daha erken tepki, biraz daha dar minimum açıklık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822960" y="57150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0e8d92"/>
                </a:solidFill>
                <a:latin typeface="Calibri"/>
                <a:ea typeface="Calibri"/>
              </a:rPr>
              <a:t>3–5×</a:t>
            </a:r>
            <a:r>
              <a:rPr b="0" lang="en-US" sz="1500" spc="-1" strike="noStrike">
                <a:solidFill>
                  <a:srgbClr val="5a6b84"/>
                </a:solidFill>
                <a:latin typeface="Calibri"/>
                <a:ea typeface="Calibri"/>
              </a:rPr>
              <a:t>  daha fazla engel açıklığı (testlerde ölçüldü)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0"/>
          <p:cNvSpPr/>
          <p:nvPr/>
        </p:nvSpPr>
        <p:spPr>
          <a:xfrm>
            <a:off x="54864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d92"/>
                </a:solidFill>
                <a:latin typeface="Calibri"/>
                <a:ea typeface="Calibri"/>
              </a:rPr>
              <a:t>HAFTA 2 · KALİTE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9" name="Text 1"/>
          <p:cNvSpPr/>
          <p:nvPr/>
        </p:nvSpPr>
        <p:spPr>
          <a:xfrm>
            <a:off x="548640" y="5302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63f"/>
                </a:solidFill>
                <a:latin typeface="Calibri"/>
                <a:ea typeface="Calibri"/>
              </a:rPr>
              <a:t>Test Disiplini ve Hafta 2 Bonusu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70" name="Shape 2"/>
          <p:cNvSpPr/>
          <p:nvPr/>
        </p:nvSpPr>
        <p:spPr>
          <a:xfrm>
            <a:off x="549000" y="2606040"/>
            <a:ext cx="3565800" cy="164556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3"/>
          <p:cNvSpPr/>
          <p:nvPr/>
        </p:nvSpPr>
        <p:spPr>
          <a:xfrm>
            <a:off x="548640" y="2880000"/>
            <a:ext cx="3565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0e8d92"/>
                </a:solidFill>
                <a:latin typeface="Calibri"/>
                <a:ea typeface="Calibri"/>
              </a:rPr>
              <a:t>83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686160" y="379476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a6b84"/>
                </a:solidFill>
                <a:latin typeface="Calibri"/>
                <a:ea typeface="Calibri"/>
              </a:rPr>
              <a:t>pytest birim testi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4343400" y="2606040"/>
            <a:ext cx="3565800" cy="164556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6"/>
          <p:cNvSpPr/>
          <p:nvPr/>
        </p:nvSpPr>
        <p:spPr>
          <a:xfrm>
            <a:off x="4343400" y="2743200"/>
            <a:ext cx="3565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0e8d92"/>
                </a:solidFill>
                <a:latin typeface="Calibri"/>
                <a:ea typeface="Calibri"/>
              </a:rPr>
              <a:t>7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175" name="Text 7"/>
          <p:cNvSpPr/>
          <p:nvPr/>
        </p:nvSpPr>
        <p:spPr>
          <a:xfrm>
            <a:off x="4526280" y="356616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a6b84"/>
                </a:solidFill>
                <a:latin typeface="Calibri"/>
                <a:ea typeface="Calibri"/>
              </a:rPr>
              <a:t>test modülü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6" name="Shape 8"/>
          <p:cNvSpPr/>
          <p:nvPr/>
        </p:nvSpPr>
        <p:spPr>
          <a:xfrm>
            <a:off x="8138160" y="2606040"/>
            <a:ext cx="3565800" cy="164556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9"/>
          <p:cNvSpPr/>
          <p:nvPr/>
        </p:nvSpPr>
        <p:spPr>
          <a:xfrm>
            <a:off x="8138160" y="2743200"/>
            <a:ext cx="3565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0e8d92"/>
                </a:solidFill>
                <a:latin typeface="Calibri"/>
                <a:ea typeface="Calibri"/>
              </a:rPr>
              <a:t>+25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178" name="Text 10"/>
          <p:cNvSpPr/>
          <p:nvPr/>
        </p:nvSpPr>
        <p:spPr>
          <a:xfrm>
            <a:off x="8321040" y="356616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a6b84"/>
                </a:solidFill>
                <a:latin typeface="Calibri"/>
                <a:ea typeface="Calibri"/>
              </a:rPr>
              <a:t>ROS2 + RViz bonusu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9" name="Text 11"/>
          <p:cNvSpPr/>
          <p:nvPr/>
        </p:nvSpPr>
        <p:spPr>
          <a:xfrm>
            <a:off x="548640" y="31543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3f"/>
                </a:solidFill>
                <a:latin typeface="Calibri"/>
                <a:ea typeface="Calibri"/>
              </a:rPr>
              <a:t>ROS2 köprüsünden kalan iki kalıcı ders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0" name="Text 12"/>
          <p:cNvSpPr/>
          <p:nvPr/>
        </p:nvSpPr>
        <p:spPr>
          <a:xfrm>
            <a:off x="548640" y="4114800"/>
            <a:ext cx="10881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54864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d92"/>
                </a:solidFill>
                <a:latin typeface="Calibri"/>
                <a:ea typeface="Calibri"/>
              </a:rPr>
              <a:t>HAFTA 3 · MİMARİ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548640" y="5302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63f"/>
                </a:solidFill>
                <a:latin typeface="Calibri"/>
                <a:ea typeface="Calibri"/>
              </a:rPr>
              <a:t>Motoru Web'e Taşıyan Köprü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548640" y="2103120"/>
            <a:ext cx="2514240" cy="1919880"/>
          </a:xfrm>
          <a:prstGeom prst="roundRect">
            <a:avLst>
              <a:gd name="adj" fmla="val 3810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3"/>
          <p:cNvSpPr/>
          <p:nvPr/>
        </p:nvSpPr>
        <p:spPr>
          <a:xfrm>
            <a:off x="731520" y="2331720"/>
            <a:ext cx="2148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3f"/>
                </a:solidFill>
                <a:latin typeface="Calibri"/>
                <a:ea typeface="Calibri"/>
              </a:rPr>
              <a:t>Tarayıcı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731520" y="2834640"/>
            <a:ext cx="2148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6b84"/>
                </a:solidFill>
                <a:latin typeface="Calibri"/>
                <a:ea typeface="Calibri"/>
              </a:rPr>
              <a:t>Canvas + Chart.js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6b84"/>
                </a:solidFill>
                <a:latin typeface="Calibri"/>
                <a:ea typeface="Calibri"/>
              </a:rPr>
              <a:t>10 Hz polling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3090600" y="2788920"/>
            <a:ext cx="456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e8d92"/>
                </a:solidFill>
                <a:latin typeface="Calibri"/>
              </a:rPr>
              <a:t>⇄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7" name="Shape 6"/>
          <p:cNvSpPr/>
          <p:nvPr/>
        </p:nvSpPr>
        <p:spPr>
          <a:xfrm>
            <a:off x="3566160" y="2103120"/>
            <a:ext cx="2514240" cy="1919880"/>
          </a:xfrm>
          <a:prstGeom prst="roundRect">
            <a:avLst>
              <a:gd name="adj" fmla="val 3810"/>
            </a:avLst>
          </a:prstGeom>
          <a:solidFill>
            <a:srgbClr val="e7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7"/>
          <p:cNvSpPr/>
          <p:nvPr/>
        </p:nvSpPr>
        <p:spPr>
          <a:xfrm>
            <a:off x="3749040" y="2331720"/>
            <a:ext cx="2148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e8d92"/>
                </a:solidFill>
                <a:latin typeface="Calibri"/>
                <a:ea typeface="Calibri"/>
              </a:rPr>
              <a:t>Django API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9" name="Text 8"/>
          <p:cNvSpPr/>
          <p:nvPr/>
        </p:nvSpPr>
        <p:spPr>
          <a:xfrm>
            <a:off x="3749040" y="2834640"/>
            <a:ext cx="2148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6b84"/>
                </a:solidFill>
                <a:latin typeface="Calibri"/>
                <a:ea typeface="Calibri"/>
              </a:rPr>
              <a:t>start / state / stop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6b84"/>
                </a:solidFill>
                <a:latin typeface="Calibri"/>
                <a:ea typeface="Calibri"/>
              </a:rPr>
              <a:t>obstacle / roi / pdf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6108120" y="2788920"/>
            <a:ext cx="456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e8d92"/>
                </a:solidFill>
                <a:latin typeface="Calibri"/>
              </a:rPr>
              <a:t>⇄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1" name="Shape 10"/>
          <p:cNvSpPr/>
          <p:nvPr/>
        </p:nvSpPr>
        <p:spPr>
          <a:xfrm>
            <a:off x="6583680" y="2103120"/>
            <a:ext cx="2514240" cy="1919880"/>
          </a:xfrm>
          <a:prstGeom prst="roundRect">
            <a:avLst>
              <a:gd name="adj" fmla="val 3810"/>
            </a:avLst>
          </a:prstGeom>
          <a:solidFill>
            <a:srgbClr val="162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11"/>
          <p:cNvSpPr/>
          <p:nvPr/>
        </p:nvSpPr>
        <p:spPr>
          <a:xfrm>
            <a:off x="6766560" y="2331720"/>
            <a:ext cx="2148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simbridge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93" name="Text 12"/>
          <p:cNvSpPr/>
          <p:nvPr/>
        </p:nvSpPr>
        <p:spPr>
          <a:xfrm>
            <a:off x="6766560" y="2834640"/>
            <a:ext cx="2148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adcfc"/>
                </a:solidFill>
                <a:latin typeface="Calibri"/>
                <a:ea typeface="Calibri"/>
              </a:rPr>
              <a:t>SimulationSession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adcfc"/>
                </a:solidFill>
                <a:latin typeface="Calibri"/>
                <a:ea typeface="Calibri"/>
              </a:rPr>
              <a:t>20 Hz tick thread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4" name="Text 13"/>
          <p:cNvSpPr/>
          <p:nvPr/>
        </p:nvSpPr>
        <p:spPr>
          <a:xfrm>
            <a:off x="9125640" y="2788920"/>
            <a:ext cx="456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e8d92"/>
                </a:solidFill>
                <a:latin typeface="Calibri"/>
              </a:rPr>
              <a:t>⇄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5" name="Shape 14"/>
          <p:cNvSpPr/>
          <p:nvPr/>
        </p:nvSpPr>
        <p:spPr>
          <a:xfrm>
            <a:off x="9601200" y="2103120"/>
            <a:ext cx="2514240" cy="1919880"/>
          </a:xfrm>
          <a:prstGeom prst="roundRect">
            <a:avLst>
              <a:gd name="adj" fmla="val 3810"/>
            </a:avLst>
          </a:prstGeom>
          <a:solidFill>
            <a:srgbClr val="0d17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15"/>
          <p:cNvSpPr/>
          <p:nvPr/>
        </p:nvSpPr>
        <p:spPr>
          <a:xfrm>
            <a:off x="9784080" y="2331720"/>
            <a:ext cx="2148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bbfc4"/>
                </a:solidFill>
                <a:latin typeface="Calibri"/>
                <a:ea typeface="Calibri"/>
              </a:rPr>
              <a:t>TusCore Motor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97" name="Text 16"/>
          <p:cNvSpPr/>
          <p:nvPr/>
        </p:nvSpPr>
        <p:spPr>
          <a:xfrm>
            <a:off x="9784080" y="2834640"/>
            <a:ext cx="2148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adcfc"/>
                </a:solidFill>
                <a:latin typeface="Calibri"/>
                <a:ea typeface="Calibri"/>
              </a:rPr>
              <a:t>simulation/src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adcfc"/>
                </a:solidFill>
                <a:latin typeface="Calibri"/>
                <a:ea typeface="Calibri"/>
              </a:rPr>
              <a:t>DEĞİŞTİRİLMEDİ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8" name="Text 17"/>
          <p:cNvSpPr/>
          <p:nvPr/>
        </p:nvSpPr>
        <p:spPr>
          <a:xfrm>
            <a:off x="548640" y="4480560"/>
            <a:ext cx="110638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6263f"/>
                </a:solidFill>
                <a:latin typeface="Calibri"/>
                <a:ea typeface="Calibri"/>
              </a:rPr>
              <a:t>Köprü deseni: motor hiçbir dosyası değişmeden üçüncü arayüzüne (pygame → RViz → web) bağlandı.</a:t>
            </a:r>
            <a:endParaRPr b="0" lang="en-US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6263f"/>
                </a:solidFill>
                <a:latin typeface="Calibri"/>
                <a:ea typeface="Calibri"/>
              </a:rPr>
              <a:t>SimulationSession motoru arka plan thread'inde gerçek zamanlı tick'ler; API yalnızca kilitli JSON snapshot okur.</a:t>
            </a:r>
            <a:endParaRPr b="0" lang="en-US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6263f"/>
                </a:solidFill>
                <a:latin typeface="Calibri"/>
                <a:ea typeface="Calibri"/>
              </a:rPr>
              <a:t>Neden Django? Motor saf Python — doğrudan import; Node.js olsaydı ayrı süreç ve IPC gerekecekti.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54864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d92"/>
                </a:solidFill>
                <a:latin typeface="Calibri"/>
                <a:ea typeface="Calibri"/>
              </a:rPr>
              <a:t>HAFTA 3 · SİMÜLASYON ARAYÜZÜ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548640" y="5302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63f"/>
                </a:solidFill>
                <a:latin typeface="Calibri"/>
                <a:ea typeface="Calibri"/>
              </a:rPr>
              <a:t>Tarayıcıda Canlı Sürü Konsolu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01" name="Shape 2"/>
          <p:cNvSpPr/>
          <p:nvPr/>
        </p:nvSpPr>
        <p:spPr>
          <a:xfrm>
            <a:off x="548640" y="1645920"/>
            <a:ext cx="621360" cy="621360"/>
          </a:xfrm>
          <a:prstGeom prst="ellipse">
            <a:avLst/>
          </a:prstGeom>
          <a:solidFill>
            <a:srgbClr val="e7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2" name="Image 0" descr="preencoded.png"/>
          <p:cNvPicPr/>
          <p:nvPr/>
        </p:nvPicPr>
        <p:blipFill>
          <a:blip r:embed="rId1"/>
          <a:stretch/>
        </p:blipFill>
        <p:spPr>
          <a:xfrm>
            <a:off x="710280" y="180756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203" name="Text 3"/>
          <p:cNvSpPr/>
          <p:nvPr/>
        </p:nvSpPr>
        <p:spPr>
          <a:xfrm>
            <a:off x="1417320" y="162756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50" spc="-1" strike="noStrike">
                <a:solidFill>
                  <a:srgbClr val="16263f"/>
                </a:solidFill>
                <a:latin typeface="Calibri"/>
                <a:ea typeface="Calibri"/>
              </a:rPr>
              <a:t>Gerçek zamanlı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204" name="Text 4"/>
          <p:cNvSpPr/>
          <p:nvPr/>
        </p:nvSpPr>
        <p:spPr>
          <a:xfrm>
            <a:off x="1417320" y="1993320"/>
            <a:ext cx="4708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6b84"/>
                </a:solidFill>
                <a:latin typeface="Calibri"/>
                <a:ea typeface="Calibri"/>
              </a:rPr>
              <a:t>Motor 20 Hz tick'lenir, tarayıcı 10 Hz çizer; izler ve durum çubuğu canlı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5" name="Shape 5"/>
          <p:cNvSpPr/>
          <p:nvPr/>
        </p:nvSpPr>
        <p:spPr>
          <a:xfrm>
            <a:off x="6263640" y="1645920"/>
            <a:ext cx="621360" cy="621360"/>
          </a:xfrm>
          <a:prstGeom prst="ellipse">
            <a:avLst/>
          </a:prstGeom>
          <a:solidFill>
            <a:srgbClr val="e7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6" name="Image 1" descr="preencoded.png"/>
          <p:cNvPicPr/>
          <p:nvPr/>
        </p:nvPicPr>
        <p:blipFill>
          <a:blip r:embed="rId2"/>
          <a:stretch/>
        </p:blipFill>
        <p:spPr>
          <a:xfrm>
            <a:off x="6425280" y="180756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207" name="Text 6"/>
          <p:cNvSpPr/>
          <p:nvPr/>
        </p:nvSpPr>
        <p:spPr>
          <a:xfrm>
            <a:off x="7132320" y="162756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50" spc="-1" strike="noStrike">
                <a:solidFill>
                  <a:srgbClr val="16263f"/>
                </a:solidFill>
                <a:latin typeface="Calibri"/>
                <a:ea typeface="Calibri"/>
              </a:rPr>
              <a:t>Sürükle-bırak engel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7132320" y="1993320"/>
            <a:ext cx="4708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6b84"/>
                </a:solidFill>
                <a:latin typeface="Calibri"/>
                <a:ea typeface="Calibri"/>
              </a:rPr>
              <a:t>Engel canlı taşınır; sürü bir sonraki adımda yeni rotaya girer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548640" y="3127320"/>
            <a:ext cx="621360" cy="621360"/>
          </a:xfrm>
          <a:prstGeom prst="ellipse">
            <a:avLst/>
          </a:prstGeom>
          <a:solidFill>
            <a:srgbClr val="e7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10" name="Image 2" descr="preencoded.png"/>
          <p:cNvPicPr/>
          <p:nvPr/>
        </p:nvPicPr>
        <p:blipFill>
          <a:blip r:embed="rId3"/>
          <a:stretch/>
        </p:blipFill>
        <p:spPr>
          <a:xfrm>
            <a:off x="710280" y="328896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211" name="Text 9"/>
          <p:cNvSpPr/>
          <p:nvPr/>
        </p:nvSpPr>
        <p:spPr>
          <a:xfrm>
            <a:off x="1417320" y="310896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50" spc="-1" strike="noStrike">
                <a:solidFill>
                  <a:srgbClr val="16263f"/>
                </a:solidFill>
                <a:latin typeface="Calibri"/>
                <a:ea typeface="Calibri"/>
              </a:rPr>
              <a:t>Görev tipi ön ayarları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212" name="Text 10"/>
          <p:cNvSpPr/>
          <p:nvPr/>
        </p:nvSpPr>
        <p:spPr>
          <a:xfrm>
            <a:off x="1417320" y="3474720"/>
            <a:ext cx="4708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6b84"/>
                </a:solidFill>
                <a:latin typeface="Calibri"/>
                <a:ea typeface="Calibri"/>
              </a:rPr>
              <a:t>Depo / Tarım / Güvenlik segmentleri alan + filo varsayılanlarını doldurur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3" name="Shape 11"/>
          <p:cNvSpPr/>
          <p:nvPr/>
        </p:nvSpPr>
        <p:spPr>
          <a:xfrm>
            <a:off x="6263640" y="3127320"/>
            <a:ext cx="621360" cy="621360"/>
          </a:xfrm>
          <a:prstGeom prst="ellipse">
            <a:avLst/>
          </a:prstGeom>
          <a:solidFill>
            <a:srgbClr val="e7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14" name="Image 3" descr="preencoded.png"/>
          <p:cNvPicPr/>
          <p:nvPr/>
        </p:nvPicPr>
        <p:blipFill>
          <a:blip r:embed="rId4"/>
          <a:stretch/>
        </p:blipFill>
        <p:spPr>
          <a:xfrm>
            <a:off x="6425280" y="328896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215" name="Text 12"/>
          <p:cNvSpPr/>
          <p:nvPr/>
        </p:nvSpPr>
        <p:spPr>
          <a:xfrm>
            <a:off x="7132320" y="310896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50" spc="-1" strike="noStrike">
                <a:solidFill>
                  <a:srgbClr val="16263f"/>
                </a:solidFill>
                <a:latin typeface="Calibri"/>
                <a:ea typeface="Calibri"/>
              </a:rPr>
              <a:t>Karanlık / aydınlık tema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216" name="Text 13"/>
          <p:cNvSpPr/>
          <p:nvPr/>
        </p:nvSpPr>
        <p:spPr>
          <a:xfrm>
            <a:off x="7132320" y="3474720"/>
            <a:ext cx="4708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6b84"/>
                </a:solidFill>
                <a:latin typeface="Calibri"/>
                <a:ea typeface="Calibri"/>
              </a:rPr>
              <a:t>Tercih kalıcı; canvas ve grafik renkleri temayla birlikte değişir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7" name="Shape 14"/>
          <p:cNvSpPr/>
          <p:nvPr/>
        </p:nvSpPr>
        <p:spPr>
          <a:xfrm>
            <a:off x="548640" y="4608720"/>
            <a:ext cx="621360" cy="621360"/>
          </a:xfrm>
          <a:prstGeom prst="ellipse">
            <a:avLst/>
          </a:prstGeom>
          <a:solidFill>
            <a:srgbClr val="e7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18" name="Image 4" descr="preencoded.png"/>
          <p:cNvPicPr/>
          <p:nvPr/>
        </p:nvPicPr>
        <p:blipFill>
          <a:blip r:embed="rId5"/>
          <a:stretch/>
        </p:blipFill>
        <p:spPr>
          <a:xfrm>
            <a:off x="710280" y="477036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219" name="Text 15"/>
          <p:cNvSpPr/>
          <p:nvPr/>
        </p:nvSpPr>
        <p:spPr>
          <a:xfrm>
            <a:off x="1417320" y="459036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50" spc="-1" strike="noStrike">
                <a:solidFill>
                  <a:srgbClr val="16263f"/>
                </a:solidFill>
                <a:latin typeface="Calibri"/>
                <a:ea typeface="Calibri"/>
              </a:rPr>
              <a:t>Mobil uyumlu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220" name="Text 16"/>
          <p:cNvSpPr/>
          <p:nvPr/>
        </p:nvSpPr>
        <p:spPr>
          <a:xfrm>
            <a:off x="1417320" y="4956120"/>
            <a:ext cx="4708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6b84"/>
                </a:solidFill>
                <a:latin typeface="Calibri"/>
                <a:ea typeface="Calibri"/>
              </a:rPr>
              <a:t>Pointer olayları: dokunmatik sürükleme telefonda da çalışır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1" name="Shape 17"/>
          <p:cNvSpPr/>
          <p:nvPr/>
        </p:nvSpPr>
        <p:spPr>
          <a:xfrm>
            <a:off x="6263640" y="4608720"/>
            <a:ext cx="621360" cy="621360"/>
          </a:xfrm>
          <a:prstGeom prst="ellipse">
            <a:avLst/>
          </a:prstGeom>
          <a:solidFill>
            <a:srgbClr val="e7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22" name="Image 5" descr="preencoded.png"/>
          <p:cNvPicPr/>
          <p:nvPr/>
        </p:nvPicPr>
        <p:blipFill>
          <a:blip r:embed="rId6"/>
          <a:stretch/>
        </p:blipFill>
        <p:spPr>
          <a:xfrm>
            <a:off x="6425280" y="4770360"/>
            <a:ext cx="298080" cy="298080"/>
          </a:xfrm>
          <a:prstGeom prst="rect">
            <a:avLst/>
          </a:prstGeom>
          <a:ln w="0">
            <a:noFill/>
          </a:ln>
        </p:spPr>
      </p:pic>
      <p:sp>
        <p:nvSpPr>
          <p:cNvPr id="223" name="Text 18"/>
          <p:cNvSpPr/>
          <p:nvPr/>
        </p:nvSpPr>
        <p:spPr>
          <a:xfrm>
            <a:off x="7132320" y="459036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50" spc="-1" strike="noStrike">
                <a:solidFill>
                  <a:srgbClr val="16263f"/>
                </a:solidFill>
                <a:latin typeface="Calibri"/>
                <a:ea typeface="Calibri"/>
              </a:rPr>
              <a:t>Parametrik dünya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224" name="Text 19"/>
          <p:cNvSpPr/>
          <p:nvPr/>
        </p:nvSpPr>
        <p:spPr>
          <a:xfrm>
            <a:off x="7132320" y="4956120"/>
            <a:ext cx="4708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6b84"/>
                </a:solidFill>
                <a:latin typeface="Calibri"/>
                <a:ea typeface="Calibri"/>
              </a:rPr>
              <a:t>Alan (m²), filo adetleri, engel sayısı ve yükseklik aralığı formdan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5" name="Text 20"/>
          <p:cNvSpPr/>
          <p:nvPr/>
        </p:nvSpPr>
        <p:spPr>
          <a:xfrm>
            <a:off x="548640" y="612648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e8d92"/>
                </a:solidFill>
                <a:latin typeface="Calibri"/>
                <a:ea typeface="Calibri"/>
              </a:rPr>
              <a:t>KPI karşılığı: “web arayüzü tarayıcıda çalışıyor” ✓  ·  “simülasyon görselleştirmesi gerçek zamanlı” ✓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/>
          <p:nvPr/>
        </p:nvSpPr>
        <p:spPr>
          <a:xfrm>
            <a:off x="54864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d92"/>
                </a:solidFill>
                <a:latin typeface="Calibri"/>
                <a:ea typeface="Calibri"/>
              </a:rPr>
              <a:t>HAFTA 3 · ROI MODÜLÜ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7" name="Text 1"/>
          <p:cNvSpPr/>
          <p:nvPr/>
        </p:nvSpPr>
        <p:spPr>
          <a:xfrm>
            <a:off x="548640" y="5302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63f"/>
                </a:solidFill>
                <a:latin typeface="Calibri"/>
                <a:ea typeface="Calibri"/>
              </a:rPr>
              <a:t>İki Senaryonun Matematiği: Bugün ve Tusmec ile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28" name="Shape 2"/>
          <p:cNvSpPr/>
          <p:nvPr/>
        </p:nvSpPr>
        <p:spPr>
          <a:xfrm>
            <a:off x="548640" y="1600200"/>
            <a:ext cx="5394600" cy="4160160"/>
          </a:xfrm>
          <a:prstGeom prst="roundRect">
            <a:avLst>
              <a:gd name="adj" fmla="val 1758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3"/>
          <p:cNvSpPr/>
          <p:nvPr/>
        </p:nvSpPr>
        <p:spPr>
          <a:xfrm>
            <a:off x="822960" y="182880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3f"/>
                </a:solidFill>
                <a:latin typeface="Calibri"/>
                <a:ea typeface="Calibri"/>
              </a:rPr>
              <a:t>Girdiler (4 zorunlu grup)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30" name="Text 4"/>
          <p:cNvSpPr/>
          <p:nvPr/>
        </p:nvSpPr>
        <p:spPr>
          <a:xfrm>
            <a:off x="822960" y="2286000"/>
            <a:ext cx="489168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6263f"/>
                </a:solidFill>
                <a:latin typeface="Calibri"/>
                <a:ea typeface="Calibri"/>
              </a:rPr>
              <a:t>Alan büyüklüğü + görev tipi</a:t>
            </a:r>
            <a:endParaRPr b="0" lang="en-US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6263f"/>
                </a:solidFill>
                <a:latin typeface="Calibri"/>
                <a:ea typeface="Calibri"/>
              </a:rPr>
              <a:t>Mevcut operasyon maliyeti — BUGÜN ödenen (işçilik + yakıt + bakım / ay)</a:t>
            </a:r>
            <a:endParaRPr b="0" lang="en-US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6263f"/>
                </a:solidFill>
                <a:latin typeface="Calibri"/>
                <a:ea typeface="Calibri"/>
              </a:rPr>
              <a:t>Hedef filo konfigürasyonu (kaç UAV / UGV / AMR)</a:t>
            </a:r>
            <a:endParaRPr b="0" lang="en-US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6263f"/>
                </a:solidFill>
                <a:latin typeface="Calibri"/>
                <a:ea typeface="Calibri"/>
              </a:rPr>
              <a:t>Tusmec lisans ücreti — geçiş sonrası aylık SaaS</a:t>
            </a:r>
            <a:endParaRPr b="0" lang="en-US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6263f"/>
                </a:solidFill>
                <a:latin typeface="Calibri"/>
                <a:ea typeface="Calibri"/>
              </a:rPr>
              <a:t>Ek alanlar: filo işletme maliyeti ve opsiyonel kurulum bedeli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31" name="Shape 5"/>
          <p:cNvSpPr/>
          <p:nvPr/>
        </p:nvSpPr>
        <p:spPr>
          <a:xfrm>
            <a:off x="6263640" y="1600200"/>
            <a:ext cx="5394600" cy="4160160"/>
          </a:xfrm>
          <a:prstGeom prst="roundRect">
            <a:avLst>
              <a:gd name="adj" fmla="val 1758"/>
            </a:avLst>
          </a:prstGeom>
          <a:solidFill>
            <a:srgbClr val="e7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6"/>
          <p:cNvSpPr/>
          <p:nvPr/>
        </p:nvSpPr>
        <p:spPr>
          <a:xfrm>
            <a:off x="6537960" y="182880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e8d92"/>
                </a:solidFill>
                <a:latin typeface="Calibri"/>
                <a:ea typeface="Calibri"/>
              </a:rPr>
              <a:t>Çıktılar (4 zorunlu)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33" name="Text 7"/>
          <p:cNvSpPr/>
          <p:nvPr/>
        </p:nvSpPr>
        <p:spPr>
          <a:xfrm>
            <a:off x="6537960" y="2286000"/>
            <a:ext cx="48916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6263f"/>
                </a:solidFill>
                <a:latin typeface="Calibri"/>
                <a:ea typeface="Calibri"/>
              </a:rPr>
              <a:t>Aylık ve yıllık tasarruf (TL / USD)</a:t>
            </a:r>
            <a:endParaRPr b="0" lang="en-US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6263f"/>
                </a:solidFill>
                <a:latin typeface="Calibri"/>
                <a:ea typeface="Calibri"/>
              </a:rPr>
              <a:t>Geri ödeme süresi (ay) = kurulum ÷ aylık tasarruf</a:t>
            </a:r>
            <a:endParaRPr b="0" lang="en-US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6263f"/>
                </a:solidFill>
                <a:latin typeface="Calibri"/>
                <a:ea typeface="Calibri"/>
              </a:rPr>
              <a:t>5 yıllık toplam ROI (%)</a:t>
            </a:r>
            <a:endParaRPr b="0" lang="en-US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6263f"/>
                </a:solidFill>
                <a:latin typeface="Calibri"/>
                <a:ea typeface="Calibri"/>
              </a:rPr>
              <a:t>Kümülatif maliyet karşılaştırma grafiği</a:t>
            </a:r>
            <a:endParaRPr b="0" lang="en-US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6263f"/>
                </a:solidFill>
                <a:latin typeface="Calibri"/>
                <a:ea typeface="Calibri"/>
              </a:rPr>
              <a:t>Bonus: tek tıkla markalı PDF raporu (+15)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34" name="Text 8"/>
          <p:cNvSpPr/>
          <p:nvPr/>
        </p:nvSpPr>
        <p:spPr>
          <a:xfrm>
            <a:off x="548640" y="59893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a6b84"/>
                </a:solidFill>
                <a:latin typeface="Calibri"/>
                <a:ea typeface="Calibri"/>
              </a:rPr>
              <a:t>Doğrulama: 5 birim testi, hepsi elle hesaplanmış örneklerle · KPI “manuel doğrulama ≥%75” için kayıt README'de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54864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d92"/>
                </a:solidFill>
                <a:latin typeface="Calibri"/>
                <a:ea typeface="Calibri"/>
              </a:rPr>
              <a:t>HAFTA 3 · ÖRNEK ANALİZ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548640" y="5302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63f"/>
                </a:solidFill>
                <a:latin typeface="Calibri"/>
                <a:ea typeface="Calibri"/>
              </a:rPr>
              <a:t>Başa Baş Noktası: Eğrilerin Kesiştiği Ay</a:t>
            </a:r>
            <a:endParaRPr b="0" lang="en-US" sz="3000" spc="-1" strike="noStrike">
              <a:latin typeface="Arial"/>
            </a:endParaRPr>
          </a:p>
        </p:txBody>
      </p:sp>
      <p:graphicFrame>
        <p:nvGraphicFramePr>
          <p:cNvPr id="237" name="Chart 0"/>
          <p:cNvGraphicFramePr/>
          <p:nvPr/>
        </p:nvGraphicFramePr>
        <p:xfrm>
          <a:off x="548640" y="1554480"/>
          <a:ext cx="7314840" cy="448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8" name="Shape 2"/>
          <p:cNvSpPr/>
          <p:nvPr/>
        </p:nvSpPr>
        <p:spPr>
          <a:xfrm>
            <a:off x="8183880" y="1645920"/>
            <a:ext cx="3428640" cy="118836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3"/>
          <p:cNvSpPr/>
          <p:nvPr/>
        </p:nvSpPr>
        <p:spPr>
          <a:xfrm>
            <a:off x="8412480" y="175572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e8d92"/>
                </a:solidFill>
                <a:latin typeface="Calibri"/>
                <a:ea typeface="Calibri"/>
              </a:rPr>
              <a:t>250.000 TL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40" name="Text 4"/>
          <p:cNvSpPr/>
          <p:nvPr/>
        </p:nvSpPr>
        <p:spPr>
          <a:xfrm>
            <a:off x="8412480" y="22860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6b84"/>
                </a:solidFill>
                <a:latin typeface="Calibri"/>
                <a:ea typeface="Calibri"/>
              </a:rPr>
              <a:t>aylık tasarruf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41" name="Shape 5"/>
          <p:cNvSpPr/>
          <p:nvPr/>
        </p:nvSpPr>
        <p:spPr>
          <a:xfrm>
            <a:off x="8183880" y="3063240"/>
            <a:ext cx="3428640" cy="118836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6"/>
          <p:cNvSpPr/>
          <p:nvPr/>
        </p:nvSpPr>
        <p:spPr>
          <a:xfrm>
            <a:off x="8412480" y="317304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e8d92"/>
                </a:solidFill>
                <a:latin typeface="Calibri"/>
                <a:ea typeface="Calibri"/>
              </a:rPr>
              <a:t>3,6 ay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43" name="Text 7"/>
          <p:cNvSpPr/>
          <p:nvPr/>
        </p:nvSpPr>
        <p:spPr>
          <a:xfrm>
            <a:off x="8412480" y="370332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6b84"/>
                </a:solidFill>
                <a:latin typeface="Calibri"/>
                <a:ea typeface="Calibri"/>
              </a:rPr>
              <a:t>geri ödeme süresi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44" name="Shape 8"/>
          <p:cNvSpPr/>
          <p:nvPr/>
        </p:nvSpPr>
        <p:spPr>
          <a:xfrm>
            <a:off x="8183880" y="4480560"/>
            <a:ext cx="3428640" cy="1188360"/>
          </a:xfrm>
          <a:prstGeom prst="roundRect">
            <a:avLst>
              <a:gd name="adj" fmla="val 6154"/>
            </a:avLst>
          </a:prstGeom>
          <a:solidFill>
            <a:srgbClr val="162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9"/>
          <p:cNvSpPr/>
          <p:nvPr/>
        </p:nvSpPr>
        <p:spPr>
          <a:xfrm>
            <a:off x="8412480" y="459036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bbfc4"/>
                </a:solidFill>
                <a:latin typeface="Calibri"/>
                <a:ea typeface="Calibri"/>
              </a:rPr>
              <a:t>%109,3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46" name="Text 10"/>
          <p:cNvSpPr/>
          <p:nvPr/>
        </p:nvSpPr>
        <p:spPr>
          <a:xfrm>
            <a:off x="8412480" y="512064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adcfc"/>
                </a:solidFill>
                <a:latin typeface="Calibri"/>
                <a:ea typeface="Calibri"/>
              </a:rPr>
              <a:t>5 yıllık ROI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47" name="Text 11"/>
          <p:cNvSpPr/>
          <p:nvPr/>
        </p:nvSpPr>
        <p:spPr>
          <a:xfrm>
            <a:off x="548640" y="612648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a6b84"/>
                </a:solidFill>
                <a:latin typeface="Calibri"/>
                <a:ea typeface="Calibri"/>
              </a:rPr>
              <a:t>Girdiler: mevcut 450.000 TL/ay · lisans 120.000 + filo 80.000 TL/ay · kurulum 900.000 TL · kur 40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/>
          <p:nvPr/>
        </p:nvSpPr>
        <p:spPr>
          <a:xfrm>
            <a:off x="54864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d92"/>
                </a:solidFill>
                <a:latin typeface="Calibri"/>
                <a:ea typeface="Calibri"/>
              </a:rPr>
              <a:t>HAFTA 3 · BONUSLAR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548640" y="5302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63f"/>
                </a:solidFill>
                <a:latin typeface="Calibri"/>
                <a:ea typeface="Calibri"/>
              </a:rPr>
              <a:t>Bonus Görevler: Marka Kimliği ve PDF Raporu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50" name="Shape 2"/>
          <p:cNvSpPr/>
          <p:nvPr/>
        </p:nvSpPr>
        <p:spPr>
          <a:xfrm>
            <a:off x="548640" y="1737360"/>
            <a:ext cx="11063880" cy="1599840"/>
          </a:xfrm>
          <a:prstGeom prst="roundRect">
            <a:avLst>
              <a:gd name="adj" fmla="val 4571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Shape 3"/>
          <p:cNvSpPr/>
          <p:nvPr/>
        </p:nvSpPr>
        <p:spPr>
          <a:xfrm>
            <a:off x="868680" y="2121480"/>
            <a:ext cx="822600" cy="822600"/>
          </a:xfrm>
          <a:prstGeom prst="ellipse">
            <a:avLst/>
          </a:prstGeom>
          <a:solidFill>
            <a:srgbClr val="162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52" name="Image 0" descr="preencoded.png"/>
          <p:cNvPicPr/>
          <p:nvPr/>
        </p:nvPicPr>
        <p:blipFill>
          <a:blip r:embed="rId1"/>
          <a:stretch/>
        </p:blipFill>
        <p:spPr>
          <a:xfrm>
            <a:off x="1082520" y="233532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253" name="Text 4"/>
          <p:cNvSpPr/>
          <p:nvPr/>
        </p:nvSpPr>
        <p:spPr>
          <a:xfrm>
            <a:off x="2011680" y="19933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6263f"/>
                </a:solidFill>
                <a:latin typeface="Calibri"/>
                <a:ea typeface="Calibri"/>
              </a:rPr>
              <a:t>Tusmec marka UI (+10)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4" name="Text 5"/>
          <p:cNvSpPr/>
          <p:nvPr/>
        </p:nvSpPr>
        <p:spPr>
          <a:xfrm>
            <a:off x="2011680" y="2487240"/>
            <a:ext cx="9235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5a6b84"/>
                </a:solidFill>
                <a:latin typeface="Calibri"/>
                <a:ea typeface="Calibri"/>
              </a:rPr>
              <a:t>Lacivert/turkuaz palet, ortak tema sistemi, karanlık-aydınlık mod; canvas ve grafikler CSS değişkenlerinden renk okur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55" name="Shape 6"/>
          <p:cNvSpPr/>
          <p:nvPr/>
        </p:nvSpPr>
        <p:spPr>
          <a:xfrm>
            <a:off x="548640" y="3566160"/>
            <a:ext cx="11063880" cy="1599840"/>
          </a:xfrm>
          <a:prstGeom prst="roundRect">
            <a:avLst>
              <a:gd name="adj" fmla="val 4571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Shape 7"/>
          <p:cNvSpPr/>
          <p:nvPr/>
        </p:nvSpPr>
        <p:spPr>
          <a:xfrm>
            <a:off x="868680" y="3950280"/>
            <a:ext cx="822600" cy="822600"/>
          </a:xfrm>
          <a:prstGeom prst="ellipse">
            <a:avLst/>
          </a:prstGeom>
          <a:solidFill>
            <a:srgbClr val="162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57" name="Image 1" descr="preencoded.png"/>
          <p:cNvPicPr/>
          <p:nvPr/>
        </p:nvPicPr>
        <p:blipFill>
          <a:blip r:embed="rId2"/>
          <a:stretch/>
        </p:blipFill>
        <p:spPr>
          <a:xfrm>
            <a:off x="1082520" y="416412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258" name="Text 8"/>
          <p:cNvSpPr/>
          <p:nvPr/>
        </p:nvSpPr>
        <p:spPr>
          <a:xfrm>
            <a:off x="2011680" y="38221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6263f"/>
                </a:solidFill>
                <a:latin typeface="Calibri"/>
                <a:ea typeface="Calibri"/>
              </a:rPr>
              <a:t>PDF ROI raporu (+15)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9" name="Text 9"/>
          <p:cNvSpPr/>
          <p:nvPr/>
        </p:nvSpPr>
        <p:spPr>
          <a:xfrm>
            <a:off x="2011680" y="4316040"/>
            <a:ext cx="9235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5a6b84"/>
                </a:solidFill>
                <a:latin typeface="Calibri"/>
                <a:ea typeface="Calibri"/>
              </a:rPr>
              <a:t>ReportLab ile tek sayfalık markalı rapor: girdiler, dört çıktı ve grafik görüntüsü; Türkçe karakterler için DejaVu gömülü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60" name="Text 10"/>
          <p:cNvSpPr/>
          <p:nvPr/>
        </p:nvSpPr>
        <p:spPr>
          <a:xfrm>
            <a:off x="548640" y="56235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5a6b84"/>
                </a:solidFill>
                <a:latin typeface="Calibri"/>
                <a:ea typeface="Calibri"/>
              </a:rPr>
              <a:t>Toplam bonus hedefi: </a:t>
            </a:r>
            <a:r>
              <a:rPr b="1" lang="en-US" sz="2200" spc="-1" strike="noStrike">
                <a:solidFill>
                  <a:srgbClr val="0e8d92"/>
                </a:solidFill>
                <a:latin typeface="Calibri"/>
                <a:ea typeface="Calibri"/>
              </a:rPr>
              <a:t>+25 puan</a:t>
            </a:r>
            <a:r>
              <a:rPr b="0" lang="en-US" sz="1300" spc="-1" strike="noStrike">
                <a:solidFill>
                  <a:srgbClr val="5a6b84"/>
                </a:solidFill>
                <a:latin typeface="Calibri"/>
                <a:ea typeface="Calibri"/>
              </a:rPr>
              <a:t>  (Hafta 2'deki +25 ROS2/RViz bonusuna ek olarak)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 0"/>
          <p:cNvSpPr/>
          <p:nvPr/>
        </p:nvSpPr>
        <p:spPr>
          <a:xfrm>
            <a:off x="54864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d92"/>
                </a:solidFill>
                <a:latin typeface="Calibri"/>
                <a:ea typeface="Calibri"/>
              </a:rPr>
              <a:t>DEĞERLENDİRME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62" name="Text 1"/>
          <p:cNvSpPr/>
          <p:nvPr/>
        </p:nvSpPr>
        <p:spPr>
          <a:xfrm>
            <a:off x="548640" y="5302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63f"/>
                </a:solidFill>
                <a:latin typeface="Calibri"/>
                <a:ea typeface="Calibri"/>
              </a:rPr>
              <a:t>Hafta 3 KPI Karnesi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63" name="Shape 2"/>
          <p:cNvSpPr/>
          <p:nvPr/>
        </p:nvSpPr>
        <p:spPr>
          <a:xfrm>
            <a:off x="548640" y="1737360"/>
            <a:ext cx="4297320" cy="658080"/>
          </a:xfrm>
          <a:prstGeom prst="rect">
            <a:avLst/>
          </a:prstGeom>
          <a:solidFill>
            <a:srgbClr val="16263f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3"/>
          <p:cNvSpPr/>
          <p:nvPr/>
        </p:nvSpPr>
        <p:spPr>
          <a:xfrm>
            <a:off x="658440" y="1737360"/>
            <a:ext cx="4077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KPI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65" name="Shape 4"/>
          <p:cNvSpPr/>
          <p:nvPr/>
        </p:nvSpPr>
        <p:spPr>
          <a:xfrm>
            <a:off x="4846320" y="1737360"/>
            <a:ext cx="2377080" cy="658080"/>
          </a:xfrm>
          <a:prstGeom prst="rect">
            <a:avLst/>
          </a:prstGeom>
          <a:solidFill>
            <a:srgbClr val="16263f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 5"/>
          <p:cNvSpPr/>
          <p:nvPr/>
        </p:nvSpPr>
        <p:spPr>
          <a:xfrm>
            <a:off x="4956120" y="1737360"/>
            <a:ext cx="2157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Hedef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67" name="Shape 6"/>
          <p:cNvSpPr/>
          <p:nvPr/>
        </p:nvSpPr>
        <p:spPr>
          <a:xfrm>
            <a:off x="7223760" y="1737360"/>
            <a:ext cx="1096920" cy="658080"/>
          </a:xfrm>
          <a:prstGeom prst="rect">
            <a:avLst/>
          </a:prstGeom>
          <a:solidFill>
            <a:srgbClr val="16263f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7"/>
          <p:cNvSpPr/>
          <p:nvPr/>
        </p:nvSpPr>
        <p:spPr>
          <a:xfrm>
            <a:off x="7333560" y="1737360"/>
            <a:ext cx="877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Ağırlık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69" name="Shape 8"/>
          <p:cNvSpPr/>
          <p:nvPr/>
        </p:nvSpPr>
        <p:spPr>
          <a:xfrm>
            <a:off x="8321040" y="1737360"/>
            <a:ext cx="3291480" cy="658080"/>
          </a:xfrm>
          <a:prstGeom prst="rect">
            <a:avLst/>
          </a:prstGeom>
          <a:solidFill>
            <a:srgbClr val="16263f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9"/>
          <p:cNvSpPr/>
          <p:nvPr/>
        </p:nvSpPr>
        <p:spPr>
          <a:xfrm>
            <a:off x="8430840" y="1737360"/>
            <a:ext cx="3071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Durum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71" name="Shape 10"/>
          <p:cNvSpPr/>
          <p:nvPr/>
        </p:nvSpPr>
        <p:spPr>
          <a:xfrm>
            <a:off x="548640" y="2450520"/>
            <a:ext cx="429732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11"/>
          <p:cNvSpPr/>
          <p:nvPr/>
        </p:nvSpPr>
        <p:spPr>
          <a:xfrm>
            <a:off x="658440" y="2450520"/>
            <a:ext cx="4077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Web arayüzü tarayıcıda çalışıyor mu?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73" name="Shape 12"/>
          <p:cNvSpPr/>
          <p:nvPr/>
        </p:nvSpPr>
        <p:spPr>
          <a:xfrm>
            <a:off x="4846320" y="2450520"/>
            <a:ext cx="237708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13"/>
          <p:cNvSpPr/>
          <p:nvPr/>
        </p:nvSpPr>
        <p:spPr>
          <a:xfrm>
            <a:off x="4956120" y="2450520"/>
            <a:ext cx="2157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Evet / Hayır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75" name="Shape 14"/>
          <p:cNvSpPr/>
          <p:nvPr/>
        </p:nvSpPr>
        <p:spPr>
          <a:xfrm>
            <a:off x="7223760" y="2450520"/>
            <a:ext cx="109692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15"/>
          <p:cNvSpPr/>
          <p:nvPr/>
        </p:nvSpPr>
        <p:spPr>
          <a:xfrm>
            <a:off x="7333560" y="2450520"/>
            <a:ext cx="877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%20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77" name="Shape 16"/>
          <p:cNvSpPr/>
          <p:nvPr/>
        </p:nvSpPr>
        <p:spPr>
          <a:xfrm>
            <a:off x="8321040" y="2450520"/>
            <a:ext cx="329148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17"/>
          <p:cNvSpPr/>
          <p:nvPr/>
        </p:nvSpPr>
        <p:spPr>
          <a:xfrm>
            <a:off x="8430840" y="2450520"/>
            <a:ext cx="3071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e8b57"/>
                </a:solidFill>
                <a:latin typeface="Calibri"/>
                <a:ea typeface="Calibri"/>
              </a:rPr>
              <a:t>✓ </a:t>
            </a:r>
            <a:r>
              <a:rPr b="1" lang="en-US" sz="1250" spc="-1" strike="noStrike">
                <a:solidFill>
                  <a:srgbClr val="2e8b57"/>
                </a:solidFill>
                <a:latin typeface="Calibri"/>
                <a:ea typeface="Calibri"/>
              </a:rPr>
              <a:t>Evet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79" name="Shape 18"/>
          <p:cNvSpPr/>
          <p:nvPr/>
        </p:nvSpPr>
        <p:spPr>
          <a:xfrm>
            <a:off x="548640" y="3163680"/>
            <a:ext cx="4297320" cy="658080"/>
          </a:xfrm>
          <a:prstGeom prst="rect">
            <a:avLst/>
          </a:prstGeom>
          <a:solidFill>
            <a:srgbClr val="f2f5fa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Text 19"/>
          <p:cNvSpPr/>
          <p:nvPr/>
        </p:nvSpPr>
        <p:spPr>
          <a:xfrm>
            <a:off x="658440" y="3163680"/>
            <a:ext cx="4077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ROI modülü tüm girişleri kabul ediyor mu?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81" name="Shape 20"/>
          <p:cNvSpPr/>
          <p:nvPr/>
        </p:nvSpPr>
        <p:spPr>
          <a:xfrm>
            <a:off x="4846320" y="3163680"/>
            <a:ext cx="2377080" cy="658080"/>
          </a:xfrm>
          <a:prstGeom prst="rect">
            <a:avLst/>
          </a:prstGeom>
          <a:solidFill>
            <a:srgbClr val="f2f5fa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21"/>
          <p:cNvSpPr/>
          <p:nvPr/>
        </p:nvSpPr>
        <p:spPr>
          <a:xfrm>
            <a:off x="4956120" y="3163680"/>
            <a:ext cx="2157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4 parametre grubu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83" name="Shape 22"/>
          <p:cNvSpPr/>
          <p:nvPr/>
        </p:nvSpPr>
        <p:spPr>
          <a:xfrm>
            <a:off x="7223760" y="3163680"/>
            <a:ext cx="1096920" cy="658080"/>
          </a:xfrm>
          <a:prstGeom prst="rect">
            <a:avLst/>
          </a:prstGeom>
          <a:solidFill>
            <a:srgbClr val="f2f5fa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23"/>
          <p:cNvSpPr/>
          <p:nvPr/>
        </p:nvSpPr>
        <p:spPr>
          <a:xfrm>
            <a:off x="7333560" y="3163680"/>
            <a:ext cx="877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%20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85" name="Shape 24"/>
          <p:cNvSpPr/>
          <p:nvPr/>
        </p:nvSpPr>
        <p:spPr>
          <a:xfrm>
            <a:off x="8321040" y="3163680"/>
            <a:ext cx="3291480" cy="658080"/>
          </a:xfrm>
          <a:prstGeom prst="rect">
            <a:avLst/>
          </a:prstGeom>
          <a:solidFill>
            <a:srgbClr val="f2f5fa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25"/>
          <p:cNvSpPr/>
          <p:nvPr/>
        </p:nvSpPr>
        <p:spPr>
          <a:xfrm>
            <a:off x="8430840" y="3163680"/>
            <a:ext cx="3071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e8b57"/>
                </a:solidFill>
                <a:latin typeface="Calibri"/>
                <a:ea typeface="Calibri"/>
              </a:rPr>
              <a:t>✓ </a:t>
            </a:r>
            <a:r>
              <a:rPr b="1" lang="en-US" sz="1250" spc="-1" strike="noStrike">
                <a:solidFill>
                  <a:srgbClr val="2e8b57"/>
                </a:solidFill>
                <a:latin typeface="Calibri"/>
                <a:ea typeface="Calibri"/>
              </a:rPr>
              <a:t>4/4 + ek alanlar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87" name="Shape 26"/>
          <p:cNvSpPr/>
          <p:nvPr/>
        </p:nvSpPr>
        <p:spPr>
          <a:xfrm>
            <a:off x="548640" y="3877200"/>
            <a:ext cx="429732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27"/>
          <p:cNvSpPr/>
          <p:nvPr/>
        </p:nvSpPr>
        <p:spPr>
          <a:xfrm>
            <a:off x="658440" y="3877200"/>
            <a:ext cx="4077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ROI çıktıları doğru hesaplanıyor mu?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89" name="Shape 28"/>
          <p:cNvSpPr/>
          <p:nvPr/>
        </p:nvSpPr>
        <p:spPr>
          <a:xfrm>
            <a:off x="4846320" y="3877200"/>
            <a:ext cx="237708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29"/>
          <p:cNvSpPr/>
          <p:nvPr/>
        </p:nvSpPr>
        <p:spPr>
          <a:xfrm>
            <a:off x="4956120" y="3877200"/>
            <a:ext cx="2157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Manuel doğrulama ≥%75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91" name="Shape 30"/>
          <p:cNvSpPr/>
          <p:nvPr/>
        </p:nvSpPr>
        <p:spPr>
          <a:xfrm>
            <a:off x="7223760" y="3877200"/>
            <a:ext cx="109692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Text 31"/>
          <p:cNvSpPr/>
          <p:nvPr/>
        </p:nvSpPr>
        <p:spPr>
          <a:xfrm>
            <a:off x="7333560" y="3877200"/>
            <a:ext cx="877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%20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93" name="Shape 32"/>
          <p:cNvSpPr/>
          <p:nvPr/>
        </p:nvSpPr>
        <p:spPr>
          <a:xfrm>
            <a:off x="8321040" y="3877200"/>
            <a:ext cx="329148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33"/>
          <p:cNvSpPr/>
          <p:nvPr/>
        </p:nvSpPr>
        <p:spPr>
          <a:xfrm>
            <a:off x="8430840" y="3877200"/>
            <a:ext cx="3071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e8b57"/>
                </a:solidFill>
                <a:latin typeface="Calibri"/>
                <a:ea typeface="Calibri"/>
              </a:rPr>
              <a:t>✓ </a:t>
            </a:r>
            <a:r>
              <a:rPr b="1" lang="en-US" sz="1250" spc="-1" strike="noStrike">
                <a:solidFill>
                  <a:srgbClr val="2e8b57"/>
                </a:solidFill>
                <a:latin typeface="Calibri"/>
                <a:ea typeface="Calibri"/>
              </a:rPr>
              <a:t>5/5 test elle doğrulandı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95" name="Shape 34"/>
          <p:cNvSpPr/>
          <p:nvPr/>
        </p:nvSpPr>
        <p:spPr>
          <a:xfrm>
            <a:off x="548640" y="4590360"/>
            <a:ext cx="4297320" cy="658080"/>
          </a:xfrm>
          <a:prstGeom prst="rect">
            <a:avLst/>
          </a:prstGeom>
          <a:solidFill>
            <a:srgbClr val="f2f5fa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 35"/>
          <p:cNvSpPr/>
          <p:nvPr/>
        </p:nvSpPr>
        <p:spPr>
          <a:xfrm>
            <a:off x="658440" y="4590360"/>
            <a:ext cx="4077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Simülasyon görselleştirmesi çalışıyor mu?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97" name="Shape 36"/>
          <p:cNvSpPr/>
          <p:nvPr/>
        </p:nvSpPr>
        <p:spPr>
          <a:xfrm>
            <a:off x="4846320" y="4590360"/>
            <a:ext cx="2377080" cy="658080"/>
          </a:xfrm>
          <a:prstGeom prst="rect">
            <a:avLst/>
          </a:prstGeom>
          <a:solidFill>
            <a:srgbClr val="f2f5fa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37"/>
          <p:cNvSpPr/>
          <p:nvPr/>
        </p:nvSpPr>
        <p:spPr>
          <a:xfrm>
            <a:off x="4956120" y="4590360"/>
            <a:ext cx="2157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Gerçek zamanlı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99" name="Shape 38"/>
          <p:cNvSpPr/>
          <p:nvPr/>
        </p:nvSpPr>
        <p:spPr>
          <a:xfrm>
            <a:off x="7223760" y="4590360"/>
            <a:ext cx="1096920" cy="658080"/>
          </a:xfrm>
          <a:prstGeom prst="rect">
            <a:avLst/>
          </a:prstGeom>
          <a:solidFill>
            <a:srgbClr val="f2f5fa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39"/>
          <p:cNvSpPr/>
          <p:nvPr/>
        </p:nvSpPr>
        <p:spPr>
          <a:xfrm>
            <a:off x="7333560" y="4590360"/>
            <a:ext cx="877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%20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01" name="Shape 40"/>
          <p:cNvSpPr/>
          <p:nvPr/>
        </p:nvSpPr>
        <p:spPr>
          <a:xfrm>
            <a:off x="8321040" y="4590360"/>
            <a:ext cx="3291480" cy="658080"/>
          </a:xfrm>
          <a:prstGeom prst="rect">
            <a:avLst/>
          </a:prstGeom>
          <a:solidFill>
            <a:srgbClr val="f2f5fa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41"/>
          <p:cNvSpPr/>
          <p:nvPr/>
        </p:nvSpPr>
        <p:spPr>
          <a:xfrm>
            <a:off x="8430840" y="4590360"/>
            <a:ext cx="3071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e8b57"/>
                </a:solidFill>
                <a:latin typeface="Calibri"/>
                <a:ea typeface="Calibri"/>
              </a:rPr>
              <a:t>✓ </a:t>
            </a:r>
            <a:r>
              <a:rPr b="1" lang="en-US" sz="1250" spc="-1" strike="noStrike">
                <a:solidFill>
                  <a:srgbClr val="2e8b57"/>
                </a:solidFill>
                <a:latin typeface="Calibri"/>
                <a:ea typeface="Calibri"/>
              </a:rPr>
              <a:t>20 Hz motor / 10 Hz çizim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03" name="Shape 42"/>
          <p:cNvSpPr/>
          <p:nvPr/>
        </p:nvSpPr>
        <p:spPr>
          <a:xfrm>
            <a:off x="548640" y="5303520"/>
            <a:ext cx="429732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Text 43"/>
          <p:cNvSpPr/>
          <p:nvPr/>
        </p:nvSpPr>
        <p:spPr>
          <a:xfrm>
            <a:off x="658440" y="5303520"/>
            <a:ext cx="4077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Demo video teslim edildi mi?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05" name="Shape 44"/>
          <p:cNvSpPr/>
          <p:nvPr/>
        </p:nvSpPr>
        <p:spPr>
          <a:xfrm>
            <a:off x="4846320" y="5303520"/>
            <a:ext cx="237708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45"/>
          <p:cNvSpPr/>
          <p:nvPr/>
        </p:nvSpPr>
        <p:spPr>
          <a:xfrm>
            <a:off x="4956120" y="5303520"/>
            <a:ext cx="2157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≥</a:t>
            </a: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2 dk ekran kaydı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07" name="Shape 46"/>
          <p:cNvSpPr/>
          <p:nvPr/>
        </p:nvSpPr>
        <p:spPr>
          <a:xfrm>
            <a:off x="7223760" y="5303520"/>
            <a:ext cx="109692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47"/>
          <p:cNvSpPr/>
          <p:nvPr/>
        </p:nvSpPr>
        <p:spPr>
          <a:xfrm>
            <a:off x="7333560" y="5303520"/>
            <a:ext cx="877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%20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09" name="Shape 48"/>
          <p:cNvSpPr/>
          <p:nvPr/>
        </p:nvSpPr>
        <p:spPr>
          <a:xfrm>
            <a:off x="8321040" y="5303520"/>
            <a:ext cx="329148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Text 49"/>
          <p:cNvSpPr/>
          <p:nvPr/>
        </p:nvSpPr>
        <p:spPr>
          <a:xfrm>
            <a:off x="8430840" y="5303520"/>
            <a:ext cx="3071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e8b57"/>
                </a:solidFill>
                <a:latin typeface="Calibri"/>
                <a:ea typeface="Calibri"/>
              </a:rPr>
              <a:t>✓ </a:t>
            </a:r>
            <a:r>
              <a:rPr b="1" lang="en-US" sz="1250" spc="-1" strike="noStrike">
                <a:solidFill>
                  <a:srgbClr val="2e8b57"/>
                </a:solidFill>
                <a:latin typeface="Calibri"/>
                <a:ea typeface="Calibri"/>
              </a:rPr>
              <a:t>Teslim edildi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11" name="Text 50"/>
          <p:cNvSpPr/>
          <p:nvPr/>
        </p:nvSpPr>
        <p:spPr>
          <a:xfrm>
            <a:off x="548640" y="617220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a6b84"/>
                </a:solidFill>
                <a:latin typeface="Calibri"/>
                <a:ea typeface="Calibri"/>
              </a:rPr>
              <a:t>Geçme eşiği %75 · beş KPI'ın beşi karşılandı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 0"/>
          <p:cNvSpPr/>
          <p:nvPr/>
        </p:nvSpPr>
        <p:spPr>
          <a:xfrm>
            <a:off x="54864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d92"/>
                </a:solidFill>
                <a:latin typeface="Calibri"/>
                <a:ea typeface="Calibri"/>
              </a:rPr>
              <a:t>KAPANIŞ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13" name="Text 1"/>
          <p:cNvSpPr/>
          <p:nvPr/>
        </p:nvSpPr>
        <p:spPr>
          <a:xfrm>
            <a:off x="548640" y="5302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63f"/>
                </a:solidFill>
                <a:latin typeface="Calibri"/>
                <a:ea typeface="Calibri"/>
              </a:rPr>
              <a:t>Dört Haftada Öğrendiklerim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14" name="Shape 2"/>
          <p:cNvSpPr/>
          <p:nvPr/>
        </p:nvSpPr>
        <p:spPr>
          <a:xfrm>
            <a:off x="548640" y="1737360"/>
            <a:ext cx="5486040" cy="1874160"/>
          </a:xfrm>
          <a:prstGeom prst="roundRect">
            <a:avLst>
              <a:gd name="adj" fmla="val 3902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Shape 3"/>
          <p:cNvSpPr/>
          <p:nvPr/>
        </p:nvSpPr>
        <p:spPr>
          <a:xfrm>
            <a:off x="822960" y="2011680"/>
            <a:ext cx="685440" cy="685440"/>
          </a:xfrm>
          <a:prstGeom prst="ellipse">
            <a:avLst/>
          </a:prstGeom>
          <a:solidFill>
            <a:srgbClr val="e7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16" name="Image 0" descr="preencoded.png"/>
          <p:cNvPicPr/>
          <p:nvPr/>
        </p:nvPicPr>
        <p:blipFill>
          <a:blip r:embed="rId1"/>
          <a:stretch/>
        </p:blipFill>
        <p:spPr>
          <a:xfrm>
            <a:off x="1001160" y="21898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17" name="Text 4"/>
          <p:cNvSpPr/>
          <p:nvPr/>
        </p:nvSpPr>
        <p:spPr>
          <a:xfrm>
            <a:off x="1737360" y="199332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3f"/>
                </a:solidFill>
                <a:latin typeface="Calibri"/>
                <a:ea typeface="Calibri"/>
              </a:rPr>
              <a:t>Köprü deseni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18" name="Text 5"/>
          <p:cNvSpPr/>
          <p:nvPr/>
        </p:nvSpPr>
        <p:spPr>
          <a:xfrm>
            <a:off x="1737360" y="2450520"/>
            <a:ext cx="4160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6b84"/>
                </a:solidFill>
                <a:latin typeface="Calibri"/>
                <a:ea typeface="Calibri"/>
              </a:rPr>
              <a:t>Çekirdeğe dokunmadan sarmalayıcı katmanlarla yeni arayüzler eklemek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19" name="Shape 6"/>
          <p:cNvSpPr/>
          <p:nvPr/>
        </p:nvSpPr>
        <p:spPr>
          <a:xfrm>
            <a:off x="6263640" y="1737360"/>
            <a:ext cx="5486040" cy="1874160"/>
          </a:xfrm>
          <a:prstGeom prst="roundRect">
            <a:avLst>
              <a:gd name="adj" fmla="val 3902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Shape 7"/>
          <p:cNvSpPr/>
          <p:nvPr/>
        </p:nvSpPr>
        <p:spPr>
          <a:xfrm>
            <a:off x="6537960" y="2011680"/>
            <a:ext cx="685440" cy="685440"/>
          </a:xfrm>
          <a:prstGeom prst="ellipse">
            <a:avLst/>
          </a:prstGeom>
          <a:solidFill>
            <a:srgbClr val="e7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21" name="Image 1" descr="preencoded.png"/>
          <p:cNvPicPr/>
          <p:nvPr/>
        </p:nvPicPr>
        <p:blipFill>
          <a:blip r:embed="rId2"/>
          <a:stretch/>
        </p:blipFill>
        <p:spPr>
          <a:xfrm>
            <a:off x="6716160" y="21898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22" name="Text 8"/>
          <p:cNvSpPr/>
          <p:nvPr/>
        </p:nvSpPr>
        <p:spPr>
          <a:xfrm>
            <a:off x="7452360" y="199332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3f"/>
                </a:solidFill>
                <a:latin typeface="Calibri"/>
                <a:ea typeface="Calibri"/>
              </a:rPr>
              <a:t>Test etmek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23" name="Text 9"/>
          <p:cNvSpPr/>
          <p:nvPr/>
        </p:nvSpPr>
        <p:spPr>
          <a:xfrm>
            <a:off x="7452360" y="2450520"/>
            <a:ext cx="4160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6b84"/>
                </a:solidFill>
                <a:latin typeface="Calibri"/>
                <a:ea typeface="Calibri"/>
              </a:rPr>
              <a:t>Elle hesaplanmış ROI örnekleri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24" name="Shape 14"/>
          <p:cNvSpPr/>
          <p:nvPr/>
        </p:nvSpPr>
        <p:spPr>
          <a:xfrm>
            <a:off x="6263640" y="3840480"/>
            <a:ext cx="5486040" cy="1874160"/>
          </a:xfrm>
          <a:prstGeom prst="roundRect">
            <a:avLst>
              <a:gd name="adj" fmla="val 3902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Shape 15"/>
          <p:cNvSpPr/>
          <p:nvPr/>
        </p:nvSpPr>
        <p:spPr>
          <a:xfrm>
            <a:off x="6537960" y="4114800"/>
            <a:ext cx="685440" cy="685440"/>
          </a:xfrm>
          <a:prstGeom prst="ellipse">
            <a:avLst/>
          </a:prstGeom>
          <a:solidFill>
            <a:srgbClr val="e7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26" name="Image 3" descr="preencoded.png"/>
          <p:cNvPicPr/>
          <p:nvPr/>
        </p:nvPicPr>
        <p:blipFill>
          <a:blip r:embed="rId3"/>
          <a:stretch/>
        </p:blipFill>
        <p:spPr>
          <a:xfrm>
            <a:off x="6716160" y="42930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27" name="Text 16"/>
          <p:cNvSpPr/>
          <p:nvPr/>
        </p:nvSpPr>
        <p:spPr>
          <a:xfrm>
            <a:off x="7452360" y="409644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3f"/>
                </a:solidFill>
                <a:latin typeface="Calibri"/>
                <a:ea typeface="Calibri"/>
              </a:rPr>
              <a:t>Doğru soruyu sormak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28" name="Text 17"/>
          <p:cNvSpPr/>
          <p:nvPr/>
        </p:nvSpPr>
        <p:spPr>
          <a:xfrm>
            <a:off x="7452360" y="4553640"/>
            <a:ext cx="4160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6b84"/>
                </a:solidFill>
                <a:latin typeface="Calibri"/>
                <a:ea typeface="Calibri"/>
              </a:rPr>
              <a:t>Görev tanımının dışına çıkan alanları (kurulum, filo maliyeti) mentörle gerekçeli seçenekler halinde tartışmak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0"/>
          <p:cNvSpPr/>
          <p:nvPr/>
        </p:nvSpPr>
        <p:spPr>
          <a:xfrm>
            <a:off x="54864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0e8d92"/>
                </a:solidFill>
                <a:latin typeface="Calibri"/>
                <a:ea typeface="Calibri"/>
              </a:rPr>
              <a:t>ÖNERILER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30" name="Text 1"/>
          <p:cNvSpPr/>
          <p:nvPr/>
        </p:nvSpPr>
        <p:spPr>
          <a:xfrm>
            <a:off x="548640" y="53028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6263f"/>
                </a:solidFill>
                <a:latin typeface="Calibri"/>
                <a:ea typeface="Calibri"/>
              </a:rPr>
              <a:t>Platformun Sonraki Adımları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31" name="Shape 2"/>
          <p:cNvSpPr/>
          <p:nvPr/>
        </p:nvSpPr>
        <p:spPr>
          <a:xfrm>
            <a:off x="548640" y="1691640"/>
            <a:ext cx="3565800" cy="4023000"/>
          </a:xfrm>
          <a:prstGeom prst="roundRect">
            <a:avLst>
              <a:gd name="adj" fmla="val 2051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Text 3"/>
          <p:cNvSpPr/>
          <p:nvPr/>
        </p:nvSpPr>
        <p:spPr>
          <a:xfrm>
            <a:off x="822960" y="192024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0e8d92"/>
                </a:solidFill>
                <a:latin typeface="Calibri"/>
                <a:ea typeface="Calibri"/>
              </a:rPr>
              <a:t>Kısa vade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33" name="Text 4"/>
          <p:cNvSpPr/>
          <p:nvPr/>
        </p:nvSpPr>
        <p:spPr>
          <a:xfrm>
            <a:off x="822960" y="2423160"/>
            <a:ext cx="30628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Maliyet spec'lerinin gerçek saha verisiyle kalibrasyonu</a:t>
            </a:r>
            <a:endParaRPr b="0" lang="en-US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Chart.js'in yerelleştirilmesi (çevrimdışı demo garantisi)</a:t>
            </a:r>
            <a:endParaRPr b="0" lang="en-US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APF / PAPF anahtarı ile canlı algoritma karşılaştırması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34" name="Shape 5"/>
          <p:cNvSpPr/>
          <p:nvPr/>
        </p:nvSpPr>
        <p:spPr>
          <a:xfrm>
            <a:off x="4343400" y="1691640"/>
            <a:ext cx="3565800" cy="4023000"/>
          </a:xfrm>
          <a:prstGeom prst="roundRect">
            <a:avLst>
              <a:gd name="adj" fmla="val 2051"/>
            </a:avLst>
          </a:prstGeom>
          <a:solidFill>
            <a:srgbClr val="f2f5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Text 6"/>
          <p:cNvSpPr/>
          <p:nvPr/>
        </p:nvSpPr>
        <p:spPr>
          <a:xfrm>
            <a:off x="4617720" y="192024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0e8d92"/>
                </a:solidFill>
                <a:latin typeface="Calibri"/>
                <a:ea typeface="Calibri"/>
              </a:rPr>
              <a:t>Orta vade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36" name="Text 7"/>
          <p:cNvSpPr/>
          <p:nvPr/>
        </p:nvSpPr>
        <p:spPr>
          <a:xfrm>
            <a:off x="4617720" y="2423160"/>
            <a:ext cx="30628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WebSocket'e geçiş (polling yerine push)</a:t>
            </a:r>
            <a:endParaRPr b="0" lang="en-US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Çoklu eşzamanlı oturum (birden fazla satış temsilcisi)</a:t>
            </a:r>
            <a:endParaRPr b="0" lang="en-US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6263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6263f"/>
                </a:solidFill>
                <a:latin typeface="Calibri"/>
                <a:ea typeface="Calibri"/>
              </a:rPr>
              <a:t>Simülasyon hız kontrolü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37" name="Shape 8"/>
          <p:cNvSpPr/>
          <p:nvPr/>
        </p:nvSpPr>
        <p:spPr>
          <a:xfrm>
            <a:off x="8138160" y="1691640"/>
            <a:ext cx="3565800" cy="4023000"/>
          </a:xfrm>
          <a:prstGeom prst="roundRect">
            <a:avLst>
              <a:gd name="adj" fmla="val 2051"/>
            </a:avLst>
          </a:prstGeom>
          <a:solidFill>
            <a:srgbClr val="162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Text 9"/>
          <p:cNvSpPr/>
          <p:nvPr/>
        </p:nvSpPr>
        <p:spPr>
          <a:xfrm>
            <a:off x="8412480" y="192024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2bbfc4"/>
                </a:solidFill>
                <a:latin typeface="Calibri"/>
                <a:ea typeface="Calibri"/>
              </a:rPr>
              <a:t>Uzun vade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39" name="Text 10"/>
          <p:cNvSpPr/>
          <p:nvPr/>
        </p:nvSpPr>
        <p:spPr>
          <a:xfrm>
            <a:off x="8412480" y="2423160"/>
            <a:ext cx="30628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cadcfc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TusCore SaaS paneline gömülü demo modülü</a:t>
            </a:r>
            <a:endParaRPr b="0" lang="en-US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cadcfc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Gerçek filo telemetrisiyle dijital ikiz bağlantısı</a:t>
            </a:r>
            <a:endParaRPr b="0" lang="en-US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cadcfc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cadcfc"/>
                </a:solidFill>
                <a:latin typeface="Calibri"/>
                <a:ea typeface="Calibri"/>
              </a:rPr>
              <a:t>Müşteri sahası haritası üzerinde senaryo kurulumu</a:t>
            </a:r>
            <a:endParaRPr b="0" lang="en-US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0"/>
          <p:cNvSpPr/>
          <p:nvPr/>
        </p:nvSpPr>
        <p:spPr>
          <a:xfrm>
            <a:off x="-1828800" y="-2377440"/>
            <a:ext cx="5943240" cy="5943240"/>
          </a:xfrm>
          <a:prstGeom prst="ellipse">
            <a:avLst/>
          </a:prstGeom>
          <a:solidFill>
            <a:srgbClr val="1e33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Text 1"/>
          <p:cNvSpPr/>
          <p:nvPr/>
        </p:nvSpPr>
        <p:spPr>
          <a:xfrm>
            <a:off x="822960" y="237744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Calibri"/>
                <a:ea typeface="Calibri"/>
              </a:rPr>
              <a:t>	</a:t>
            </a:r>
            <a:r>
              <a:rPr b="1" lang="en-US" sz="5400" spc="-1" strike="noStrike">
                <a:solidFill>
                  <a:srgbClr val="ffffff"/>
                </a:solidFill>
                <a:latin typeface="Calibri"/>
                <a:ea typeface="Calibri"/>
              </a:rPr>
              <a:t>	</a:t>
            </a:r>
            <a:r>
              <a:rPr b="1" lang="en-US" sz="5400" spc="-1" strike="noStrike">
                <a:solidFill>
                  <a:srgbClr val="ffffff"/>
                </a:solidFill>
                <a:latin typeface="Calibri"/>
                <a:ea typeface="Calibri"/>
              </a:rPr>
              <a:t>	</a:t>
            </a:r>
            <a:r>
              <a:rPr b="1" lang="en-US" sz="5400" spc="-1" strike="noStrike">
                <a:solidFill>
                  <a:srgbClr val="ffffff"/>
                </a:solidFill>
                <a:latin typeface="Calibri"/>
                <a:ea typeface="Calibri"/>
              </a:rPr>
              <a:t>Teşekkürler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342" name="Text 2"/>
          <p:cNvSpPr/>
          <p:nvPr/>
        </p:nvSpPr>
        <p:spPr>
          <a:xfrm>
            <a:off x="822960" y="352044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2bbfc4"/>
                </a:solidFill>
                <a:latin typeface="Calibri"/>
                <a:ea typeface="Calibri"/>
              </a:rPr>
              <a:t>Sorularınızı bekliyorum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43" name="Text 3"/>
          <p:cNvSpPr/>
          <p:nvPr/>
        </p:nvSpPr>
        <p:spPr>
          <a:xfrm>
            <a:off x="822960" y="57607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8fa3bf"/>
                </a:solidFill>
                <a:latin typeface="Calibri"/>
                <a:ea typeface="Calibri"/>
              </a:rPr>
              <a:t>	</a:t>
            </a:r>
            <a:r>
              <a:rPr b="0" lang="en-US" sz="1300" spc="-1" strike="noStrike">
                <a:solidFill>
                  <a:srgbClr val="8fa3bf"/>
                </a:solidFill>
                <a:latin typeface="Calibri"/>
                <a:ea typeface="Calibri"/>
              </a:rPr>
              <a:t>	</a:t>
            </a:r>
            <a:r>
              <a:rPr b="0" lang="en-US" sz="1300" spc="-1" strike="noStrike">
                <a:solidFill>
                  <a:srgbClr val="8fa3bf"/>
                </a:solidFill>
                <a:latin typeface="Calibri"/>
                <a:ea typeface="Calibri"/>
              </a:rPr>
              <a:t>Ayşe Feyza Serbest · Tusmec Karma Robot Teknolojileri A.Ş. · Temmuz 2026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2026-07-18T11:02:06Z</dcterms:created>
  <dc:creator>PptxGenJS</dc:creator>
  <dc:description/>
  <dc:language>en-US</dc:language>
  <cp:lastModifiedBy/>
  <dcterms:modified xsi:type="dcterms:W3CDTF">2026-07-19T16:06:15Z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