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Mevcut durum</c:v>
                </c:pt>
              </c:strCache>
            </c:strRef>
          </c:tx>
          <c:spPr>
            <a:solidFill>
              <a:srgbClr val="8FA3BF"/>
            </a:solidFill>
            <a:ln w="38100" cap="flat">
              <a:solidFill>
                <a:srgbClr val="8FA3B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FA3BF"/>
              </a:solidFill>
              <a:ln w="9525" cap="flat">
                <a:solidFill>
                  <a:srgbClr val="8FA3B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</c:v>
                  </c:pt>
                  <c:pt idx="1">
                    <c:v>6</c:v>
                  </c:pt>
                  <c:pt idx="2">
                    <c:v>12</c:v>
                  </c:pt>
                  <c:pt idx="3">
                    <c:v>18</c:v>
                  </c:pt>
                  <c:pt idx="4">
                    <c:v>24</c:v>
                  </c:pt>
                  <c:pt idx="5">
                    <c:v>30</c:v>
                  </c:pt>
                  <c:pt idx="6">
                    <c:v>36</c:v>
                  </c:pt>
                  <c:pt idx="7">
                    <c:v>42</c:v>
                  </c:pt>
                  <c:pt idx="8">
                    <c:v>48</c:v>
                  </c:pt>
                  <c:pt idx="9">
                    <c:v>54</c:v>
                  </c:pt>
                  <c:pt idx="10">
                    <c:v>60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</c:v>
                </c:pt>
                <c:pt idx="1">
                  <c:v>2.7</c:v>
                </c:pt>
                <c:pt idx="2">
                  <c:v>5.4</c:v>
                </c:pt>
                <c:pt idx="3">
                  <c:v>8.1</c:v>
                </c:pt>
                <c:pt idx="4">
                  <c:v>10.8</c:v>
                </c:pt>
                <c:pt idx="5">
                  <c:v>13.5</c:v>
                </c:pt>
                <c:pt idx="6">
                  <c:v>16.2</c:v>
                </c:pt>
                <c:pt idx="7">
                  <c:v>18.9</c:v>
                </c:pt>
                <c:pt idx="8">
                  <c:v>21.6</c:v>
                </c:pt>
                <c:pt idx="9">
                  <c:v>24.3</c:v>
                </c:pt>
                <c:pt idx="10">
                  <c:v>27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Tusmec çözümü</c:v>
                </c:pt>
              </c:strCache>
            </c:strRef>
          </c:tx>
          <c:spPr>
            <a:solidFill>
              <a:srgbClr val="0E8D92"/>
            </a:solidFill>
            <a:ln w="38100" cap="flat">
              <a:solidFill>
                <a:srgbClr val="0E8D9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E8D92"/>
              </a:solidFill>
              <a:ln w="9525" cap="flat">
                <a:solidFill>
                  <a:srgbClr val="0E8D9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</c:v>
                  </c:pt>
                  <c:pt idx="1">
                    <c:v>6</c:v>
                  </c:pt>
                  <c:pt idx="2">
                    <c:v>12</c:v>
                  </c:pt>
                  <c:pt idx="3">
                    <c:v>18</c:v>
                  </c:pt>
                  <c:pt idx="4">
                    <c:v>24</c:v>
                  </c:pt>
                  <c:pt idx="5">
                    <c:v>30</c:v>
                  </c:pt>
                  <c:pt idx="6">
                    <c:v>36</c:v>
                  </c:pt>
                  <c:pt idx="7">
                    <c:v>42</c:v>
                  </c:pt>
                  <c:pt idx="8">
                    <c:v>48</c:v>
                  </c:pt>
                  <c:pt idx="9">
                    <c:v>54</c:v>
                  </c:pt>
                  <c:pt idx="10">
                    <c:v>60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0.9</c:v>
                </c:pt>
                <c:pt idx="1">
                  <c:v>2.1</c:v>
                </c:pt>
                <c:pt idx="2">
                  <c:v>3.3</c:v>
                </c:pt>
                <c:pt idx="3">
                  <c:v>4.5</c:v>
                </c:pt>
                <c:pt idx="4">
                  <c:v>5.7</c:v>
                </c:pt>
                <c:pt idx="5">
                  <c:v>6.9</c:v>
                </c:pt>
                <c:pt idx="6">
                  <c:v>8.1</c:v>
                </c:pt>
                <c:pt idx="7">
                  <c:v>9.3</c:v>
                </c:pt>
                <c:pt idx="8">
                  <c:v>10.5</c:v>
                </c:pt>
                <c:pt idx="9">
                  <c:v>11.7</c:v>
                </c:pt>
                <c:pt idx="10">
                  <c:v>12.9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A6B84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A6B84"/>
                    </a:solidFill>
                    <a:latin typeface="Arial"/>
                  </a:rPr>
                  <a:t>Ay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3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A6B84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A6B84"/>
                    </a:solidFill>
                    <a:latin typeface="Arial"/>
                  </a:rPr>
                  <a:t>Kümülatif maliyet (Milyon TL)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A6B84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Hoş geldiniz. Dört haftalık stajın ürünü: TusCore motoru üzerinde web tabanlı satış demo platformu.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Kronolojik akış: her hafta bir öncekinin üstüne inşa edildi.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Hafta 3 en yüksek ağırlık (%40) — bugünkü demonun ana gövdesi.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 müşteri, 35 yurt içi 10 uluslararası. Bonus: PDF +10 ve PPTX +15 alındı.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Modüler ayrım Hafta 3'ün sigortası oldu: motor koduna dokunmadan üç farklı arayüz.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Web demosu 3 tipe odaklanır (UAV/UGV/AMR); motor 6 tipi destekler.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Trade-off dürüst anlatılmalı: PAPF her metrikte 'bedava' kazanç değil; lookahead ayarı senaryoya göre.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83 test %90+ kapsam; her ROI formülü elle hesaplanmış örneklerle doğrulanıyor.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Sağdaki kutu kasıtlı olarak koyu: dokunulmaz çekirdek. Sorularda mimari kararların gerekçesi burada.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Demoda engel sürüklemeyi mutlaka göster — en etkileyici 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Kritik ayrım: mevcut maliyet 'bugün' senaryosu, lisans+filo 'Tusmec ile' senaryosu. İkisi karşılaştırılır.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Grafikte kesişme ~4. ay civarı = geri ödeme anı. Satış anlatısının kalbi bu slayt.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PDF akışı: Chart.js grafiği PNG olarak sunucuya gönderilir, ReportLab rapora gömer.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 satır için kanıt hazır: canlı demo, test çıktısı, README doğrulama tablosu, video dosyası.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Yedek plan: internet yoksa grafik gelmez — Chart.js'in yerel kopyasıyla önceden test et. Demo öncesi sunucuyu ayakta bırak.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Teknik olmayan ders en değerlisi: belirsizlikte seçenekli soru sormak.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Uzun vade sütunu şirket vizyonuna bağlanıyor: demo aracı → dijital ikiz yolu.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Soru-cevap min. 30 dk: mimari kararlar, ROI matematiği ve kalibrasyon konularına hazırlıklı 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2011680"/>
            <a:ext cx="5852160" cy="5852160"/>
          </a:xfrm>
          <a:prstGeom prst="ellipse">
            <a:avLst/>
          </a:prstGeom>
          <a:solidFill>
            <a:srgbClr val="1E3355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754880"/>
            <a:ext cx="4206240" cy="4206240"/>
          </a:xfrm>
          <a:prstGeom prst="ellipse">
            <a:avLst/>
          </a:prstGeom>
          <a:solidFill>
            <a:srgbClr val="1E3355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TUSMEC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242316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BB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Heterojen Sürü Simülasyon ve ROI Demo Platformu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39776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Staj Final Sunumu · Hafta 1–4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55778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Feyza Serbest — Bilgisayar Mühendisliği, Gebze Teknik Üniversitesi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Tusmec Karma Robot Teknolojileri A.Ş. · Temmuz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Sunum Akışı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658368" cy="658368"/>
          </a:xfrm>
          <a:prstGeom prst="ellipse">
            <a:avLst/>
          </a:prstGeom>
          <a:solidFill>
            <a:srgbClr val="F2F5F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696" y="1771376"/>
            <a:ext cx="316017" cy="31601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91640" y="16184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1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691640" y="196596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Şirket, TusCore platformu ve rekabet analizi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" y="2587752"/>
            <a:ext cx="658368" cy="658368"/>
          </a:xfrm>
          <a:prstGeom prst="ellipse">
            <a:avLst/>
          </a:prstGeom>
          <a:solidFill>
            <a:srgbClr val="F2F5FA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696" y="2758928"/>
            <a:ext cx="316017" cy="31601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91640" y="2606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2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1691640" y="2953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Heterojen sürü simülasyon motoru (Python)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731520" y="3575304"/>
            <a:ext cx="658368" cy="658368"/>
          </a:xfrm>
          <a:prstGeom prst="ellipse">
            <a:avLst/>
          </a:prstGeom>
          <a:solidFill>
            <a:srgbClr val="F2F5FA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696" y="3746480"/>
            <a:ext cx="316017" cy="31601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91640" y="359359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3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1691640" y="3941064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arayüzü + ROI hesaplama modülü (Django)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731520" y="4562856"/>
            <a:ext cx="658368" cy="658368"/>
          </a:xfrm>
          <a:prstGeom prst="ellipse">
            <a:avLst/>
          </a:prstGeom>
          <a:solidFill>
            <a:srgbClr val="F2F5FA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696" y="4734032"/>
            <a:ext cx="316017" cy="316017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91640" y="458114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4</a:t>
            </a:r>
            <a:endParaRPr lang="en-US" sz="1800" dirty="0"/>
          </a:p>
        </p:txBody>
      </p:sp>
      <p:sp>
        <p:nvSpPr>
          <p:cNvPr id="19" name="Text 13"/>
          <p:cNvSpPr/>
          <p:nvPr/>
        </p:nvSpPr>
        <p:spPr>
          <a:xfrm>
            <a:off x="1691640" y="4928616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Polish, dokümantasyon ve canlı demo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731520" y="5550408"/>
            <a:ext cx="658368" cy="658368"/>
          </a:xfrm>
          <a:prstGeom prst="ellipse">
            <a:avLst/>
          </a:prstGeom>
          <a:solidFill>
            <a:srgbClr val="F2F5FA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2696" y="5721584"/>
            <a:ext cx="316017" cy="316017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691640" y="556869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Kapanış</a:t>
            </a:r>
            <a:endParaRPr lang="en-US" sz="1800" dirty="0"/>
          </a:p>
        </p:txBody>
      </p:sp>
      <p:sp>
        <p:nvSpPr>
          <p:cNvPr id="23" name="Text 16"/>
          <p:cNvSpPr/>
          <p:nvPr/>
        </p:nvSpPr>
        <p:spPr>
          <a:xfrm>
            <a:off x="1691640" y="5916168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Öğrenilenler, öneriler ve soru-cevap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 YOLCULUĞU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Dört Haftada Fikirden Ürüne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14400" y="3291840"/>
            <a:ext cx="10332720" cy="0"/>
          </a:xfrm>
          <a:prstGeom prst="line">
            <a:avLst/>
          </a:prstGeom>
          <a:noFill/>
          <a:ln w="38100">
            <a:solidFill>
              <a:srgbClr val="0E8D9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81328" y="3090672"/>
            <a:ext cx="402336" cy="402336"/>
          </a:xfrm>
          <a:prstGeom prst="ellipse">
            <a:avLst/>
          </a:prstGeom>
          <a:solidFill>
            <a:srgbClr val="16263F"/>
          </a:solidFill>
          <a:ln/>
        </p:spPr>
      </p:sp>
      <p:sp>
        <p:nvSpPr>
          <p:cNvPr id="6" name="Text 4"/>
          <p:cNvSpPr/>
          <p:nvPr/>
        </p:nvSpPr>
        <p:spPr>
          <a:xfrm>
            <a:off x="1481328" y="3090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155448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2F5FA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645920"/>
            <a:ext cx="22402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8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1 · %15
</a:t>
            </a:r>
            <a:pPr indent="0" marL="0">
              <a:buNone/>
            </a:pPr>
            <a:r>
              <a:rPr lang="en-US" sz="15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Faaliyet Raporu
</a:t>
            </a:r>
            <a:pPr indent="0" marL="0">
              <a:buNone/>
            </a:pPr>
            <a:r>
              <a:rPr lang="en-US" sz="105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Şirket + pazar analizi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rakip incelendi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15968" y="3090672"/>
            <a:ext cx="402336" cy="402336"/>
          </a:xfrm>
          <a:prstGeom prst="ellipse">
            <a:avLst/>
          </a:prstGeom>
          <a:solidFill>
            <a:srgbClr val="16263F"/>
          </a:solidFill>
          <a:ln/>
        </p:spPr>
      </p:sp>
      <p:sp>
        <p:nvSpPr>
          <p:cNvPr id="10" name="Text 8"/>
          <p:cNvSpPr/>
          <p:nvPr/>
        </p:nvSpPr>
        <p:spPr>
          <a:xfrm>
            <a:off x="4315968" y="3090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520440" y="397764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E7F4F5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0" y="4069080"/>
            <a:ext cx="22402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8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2 · %25
</a:t>
            </a:r>
            <a:pPr indent="0" marL="0">
              <a:buNone/>
            </a:pPr>
            <a:r>
              <a:rPr lang="en-US" sz="15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Simülasyon Motoru
</a:t>
            </a:r>
            <a:pPr indent="0" marL="0">
              <a:buNone/>
            </a:pPr>
            <a:r>
              <a:rPr lang="en-US" sz="105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ajan tipi, APF/PAPF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 birim testi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150608" y="3090672"/>
            <a:ext cx="402336" cy="402336"/>
          </a:xfrm>
          <a:prstGeom prst="ellipse">
            <a:avLst/>
          </a:prstGeom>
          <a:solidFill>
            <a:srgbClr val="16263F"/>
          </a:solidFill>
          <a:ln/>
        </p:spPr>
      </p:sp>
      <p:sp>
        <p:nvSpPr>
          <p:cNvPr id="14" name="Text 12"/>
          <p:cNvSpPr/>
          <p:nvPr/>
        </p:nvSpPr>
        <p:spPr>
          <a:xfrm>
            <a:off x="7150608" y="3090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355080" y="155448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2F5FA"/>
          </a:solidFill>
          <a:ln/>
        </p:spPr>
      </p:sp>
      <p:sp>
        <p:nvSpPr>
          <p:cNvPr id="16" name="Text 14"/>
          <p:cNvSpPr/>
          <p:nvPr/>
        </p:nvSpPr>
        <p:spPr>
          <a:xfrm>
            <a:off x="6492240" y="1645920"/>
            <a:ext cx="22402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8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3 · %40
</a:t>
            </a:r>
            <a:pPr indent="0" marL="0">
              <a:buNone/>
            </a:pPr>
            <a:r>
              <a:rPr lang="en-US" sz="15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+ ROI
</a:t>
            </a:r>
            <a:pPr indent="0" marL="0">
              <a:buNone/>
            </a:pPr>
            <a:r>
              <a:rPr lang="en-US" sz="105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API, canlı konsol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+ PDF raporu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985248" y="3090672"/>
            <a:ext cx="402336" cy="402336"/>
          </a:xfrm>
          <a:prstGeom prst="ellipse">
            <a:avLst/>
          </a:prstGeom>
          <a:solidFill>
            <a:srgbClr val="0E8D92"/>
          </a:solidFill>
          <a:ln/>
        </p:spPr>
      </p:sp>
      <p:sp>
        <p:nvSpPr>
          <p:cNvPr id="18" name="Text 16"/>
          <p:cNvSpPr/>
          <p:nvPr/>
        </p:nvSpPr>
        <p:spPr>
          <a:xfrm>
            <a:off x="9985248" y="3090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189720" y="397764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E7F4F5"/>
          </a:solidFill>
          <a:ln/>
        </p:spPr>
      </p:sp>
      <p:sp>
        <p:nvSpPr>
          <p:cNvPr id="20" name="Text 18"/>
          <p:cNvSpPr/>
          <p:nvPr/>
        </p:nvSpPr>
        <p:spPr>
          <a:xfrm>
            <a:off x="9326880" y="4069080"/>
            <a:ext cx="22402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8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4 · %20
</a:t>
            </a:r>
            <a:pPr indent="0" marL="0">
              <a:buNone/>
            </a:pPr>
            <a:r>
              <a:rPr lang="en-US" sz="15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
</a:t>
            </a:r>
            <a:pPr indent="0" marL="0">
              <a:buNone/>
            </a:pPr>
            <a:r>
              <a:rPr lang="en-US" sz="105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Dokümantasyon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canlı demo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" y="6035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Ağırlıklar staj değerlendirme kriterlerindeki hafta katkılarıdır · geçme eşiği her hafta %75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1 · FAALIYET RAPORU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Şirketi ve Pazarı Tanımak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2F5F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916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E8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müşteri ve iş ortağı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29000" y="155448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2F5FA"/>
          </a:solidFill>
          <a:ln/>
        </p:spPr>
      </p:sp>
      <p:sp>
        <p:nvSpPr>
          <p:cNvPr id="8" name="Text 6"/>
          <p:cNvSpPr/>
          <p:nvPr/>
        </p:nvSpPr>
        <p:spPr>
          <a:xfrm>
            <a:off x="3429000" y="16916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E8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611880" y="25603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incelenen rakip firma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9360" y="155448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2F5FA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16916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E8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%27,5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6492240" y="25603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pazar CAGR (2025–2030)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189720" y="155448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2F5FA"/>
          </a:solidFill>
          <a:ln/>
        </p:spPr>
      </p:sp>
      <p:sp>
        <p:nvSpPr>
          <p:cNvPr id="14" name="Text 12"/>
          <p:cNvSpPr/>
          <p:nvPr/>
        </p:nvSpPr>
        <p:spPr>
          <a:xfrm>
            <a:off x="9189720" y="16916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E8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9372600" y="25603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hedef sektör, tek platform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3703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Temel bulgu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48640" y="411480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İncelenen 7 rakibin hiçbiri Tusmec'in 4 sektörlü kapsamını tek platformda birleştirmiyor; çoğu tek sektörde derinleşmiş donanım oyuncusu.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TusCore'un yazılım-merkezli heterojen koordinasyon yaklaşımına kavramsal olarak en yakın küresel örnek: Anduril Lattice.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Rapor önerilerimden biri Hafta 3'ü doğrudan besledi: ROI modülü için segment bazlı operasyon maliyeti verilerinin dokümante edilmesi.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2 · MIMARI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TusCore Simülasyon Motoru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81051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8D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agents.py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1945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heterojen ajan tipi ve spec'leri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06240" y="164592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/>
        </p:spPr>
      </p:sp>
      <p:sp>
        <p:nvSpPr>
          <p:cNvPr id="8" name="Text 6"/>
          <p:cNvSpPr/>
          <p:nvPr/>
        </p:nvSpPr>
        <p:spPr>
          <a:xfrm>
            <a:off x="4434840" y="181051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8D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coordination.py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434840" y="21945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APF + PAPF sürü koordinasyonu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22783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8D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engine.py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77240" y="36118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Hz tick döngüsü ve istatistikler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206240" y="306324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/>
        </p:spPr>
      </p:sp>
      <p:sp>
        <p:nvSpPr>
          <p:cNvPr id="14" name="Text 12"/>
          <p:cNvSpPr/>
          <p:nvPr/>
        </p:nvSpPr>
        <p:spPr>
          <a:xfrm>
            <a:off x="4434840" y="322783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8D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environment.py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434840" y="36118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Dünya, silindirik engeller, sınırlar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48056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6451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8D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scenario.py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77240" y="50292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Senaryo kurulumları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206240" y="448056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F2F5FA"/>
          </a:solidFill>
          <a:ln/>
        </p:spPr>
      </p:sp>
      <p:sp>
        <p:nvSpPr>
          <p:cNvPr id="20" name="Text 18"/>
          <p:cNvSpPr/>
          <p:nvPr/>
        </p:nvSpPr>
        <p:spPr>
          <a:xfrm>
            <a:off x="4434840" y="46451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8D9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visualizer.py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434840" y="50292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Pygame canlı görselleştirme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092440" y="1645920"/>
            <a:ext cx="3520440" cy="4023360"/>
          </a:xfrm>
          <a:prstGeom prst="roundRect">
            <a:avLst>
              <a:gd name="adj" fmla="val 2078"/>
            </a:avLst>
          </a:prstGeom>
          <a:solidFill>
            <a:srgbClr val="16263F"/>
          </a:solidFill>
          <a:ln/>
        </p:spPr>
      </p:sp>
      <p:sp>
        <p:nvSpPr>
          <p:cNvPr id="23" name="Text 21"/>
          <p:cNvSpPr/>
          <p:nvPr/>
        </p:nvSpPr>
        <p:spPr>
          <a:xfrm>
            <a:off x="8366760" y="19202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B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Tasarım İlkesi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366760" y="2377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 → Plan → Act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8366760" y="2880360"/>
            <a:ext cx="30175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ajan her tick'te çevreyi algılar, strateji nesnesine danışır ve hareket eder. Motor çekirdeği görselleştirmeden tamamen bağımsızdır — bu ayrım sayesinde aynı motor pygame, RViz ve web'e değişmeden bağlandı.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2 · HETEROJEN FILO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Altı Ajan Tipi, Tek Koordinasyon Çekirdeği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2F5FA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920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🚁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645920" y="1965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UAV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6517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Hava · 20 m irtifada alçak engellerin üzerinden aşar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16916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2F5FA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1920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🚙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5440680" y="1965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UGV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572000" y="26517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 · engebeli saha, orta hız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38160" y="16916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2F5FA"/>
          </a:solidFill>
          <a:ln/>
        </p:spPr>
      </p:sp>
      <p:sp>
        <p:nvSpPr>
          <p:cNvPr id="13" name="Text 11"/>
          <p:cNvSpPr/>
          <p:nvPr/>
        </p:nvSpPr>
        <p:spPr>
          <a:xfrm>
            <a:off x="8366760" y="1920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🤖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235440" y="1965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AMR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366760" y="26517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 içi · hassas ve yavaş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65760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2F5FA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8862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🚤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1645920" y="39319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USV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77240" y="46177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üstü · yüzey görevleri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343400" y="365760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2F5FA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0" y="38862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🐬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5440680" y="39319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UUV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4572000" y="46177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altı · derinlik kontrolü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138160" y="365760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2F5FA"/>
          </a:solidFill>
          <a:ln/>
        </p:spPr>
      </p:sp>
      <p:sp>
        <p:nvSpPr>
          <p:cNvPr id="25" name="Text 23"/>
          <p:cNvSpPr/>
          <p:nvPr/>
        </p:nvSpPr>
        <p:spPr>
          <a:xfrm>
            <a:off x="8366760" y="38862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🚀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9235440" y="39319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Roket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8366760" y="46177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Balistik profil · özel senaryolar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E8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Heterojenlik = farklı hız, ivme, sensör menzili ve maliyet profillerinin aynı görevde eşzamanlı koordinasyonu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2 · ALGORITMA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Koordinasyon: APF'den Öngörülü PAPF'ye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F2F5FA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APF — Yapay Potansiyel Alan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3172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Hedef çeker, engeller iter; kuvvet vektörleri toplanır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Basit, hızlı, her tick yeniden hesaplanır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Zayıf yönü: engele yaklaşana kadar tepki vermez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E7F4F5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8288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8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PAPF — Öngörülü APF (varsayılan)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37960" y="233172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Ajan, d metre ilerideki gelecekteki konumuna bakar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Kaçınma erken başlar, rotalar belirgin şekilde yumuşar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Ölçülü trade-off: daha büyük d = daha erken tepki, biraz daha dar minimum açıklık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8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3–5×</a:t>
            </a:r>
            <a:pPr indent="0" marL="0">
              <a:buNone/>
            </a:pPr>
            <a:r>
              <a:rPr lang="en-US" sz="150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daha fazla engel açıklığı (testlerde ölçüldü)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2 · KALITE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Disiplini ve Hafta 2 Bonusu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66160" cy="1645920"/>
          </a:xfrm>
          <a:prstGeom prst="roundRect">
            <a:avLst>
              <a:gd name="adj" fmla="val 4444"/>
            </a:avLst>
          </a:prstGeom>
          <a:solidFill>
            <a:srgbClr val="F2F5F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7830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E8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birim testi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1645920"/>
            <a:ext cx="3566160" cy="1645920"/>
          </a:xfrm>
          <a:prstGeom prst="roundRect">
            <a:avLst>
              <a:gd name="adj" fmla="val 4444"/>
            </a:avLst>
          </a:prstGeom>
          <a:solidFill>
            <a:srgbClr val="F2F5FA"/>
          </a:solidFill>
          <a:ln/>
        </p:spPr>
      </p:sp>
      <p:sp>
        <p:nvSpPr>
          <p:cNvPr id="8" name="Text 6"/>
          <p:cNvSpPr/>
          <p:nvPr/>
        </p:nvSpPr>
        <p:spPr>
          <a:xfrm>
            <a:off x="4343400" y="17830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E8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4526280" y="2606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modülü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38160" y="1645920"/>
            <a:ext cx="3566160" cy="1645920"/>
          </a:xfrm>
          <a:prstGeom prst="roundRect">
            <a:avLst>
              <a:gd name="adj" fmla="val 4444"/>
            </a:avLst>
          </a:prstGeom>
          <a:solidFill>
            <a:srgbClr val="F2F5FA"/>
          </a:solidFill>
          <a:ln/>
        </p:spPr>
      </p:sp>
      <p:sp>
        <p:nvSpPr>
          <p:cNvPr id="11" name="Text 9"/>
          <p:cNvSpPr/>
          <p:nvPr/>
        </p:nvSpPr>
        <p:spPr>
          <a:xfrm>
            <a:off x="8138160" y="17830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E8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8321040" y="26060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ROS2 + RViz bonusu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703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ROS2 köprüsünden kalan iki kalıcı ders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" y="411480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RViz'de bayat marker'lar DELETEALL ile her yayında temizlenmeli — yoksa hayalet ajanlar birikir.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 dosya keşfi büyük/küçük harf ve uzantı toleranslı olmalı — gerçek dünyada adlandırma tutarsız.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Köprü deseninin kendisi: motoru sarmala, kaynağa dokunma. Bu desen Hafta 3'te web katmanının şablonu oldu.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3 · MIMARI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Motoru Web'e Taşıyan Köprü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F2F5F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3317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Tarayıcı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83464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 + Chart.js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Hz polling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090672" y="278892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E8D92"/>
                </a:solidFill>
              </a:rPr>
              <a:t>⇄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566160" y="210312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E7F4F5"/>
          </a:solidFill>
          <a:ln/>
        </p:spPr>
      </p:sp>
      <p:sp>
        <p:nvSpPr>
          <p:cNvPr id="9" name="Text 7"/>
          <p:cNvSpPr/>
          <p:nvPr/>
        </p:nvSpPr>
        <p:spPr>
          <a:xfrm>
            <a:off x="3749040" y="23317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8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API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749040" y="283464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/ state / stop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obstacle / roi / pdf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108192" y="278892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E8D92"/>
                </a:solidFill>
              </a:rPr>
              <a:t>⇄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6583680" y="210312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16263F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23317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simbridge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766560" y="283464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SimulationSession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Hz tick thread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25712" y="278892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E8D92"/>
                </a:solidFill>
              </a:rPr>
              <a:t>⇄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601200" y="2103120"/>
            <a:ext cx="2514600" cy="1920240"/>
          </a:xfrm>
          <a:prstGeom prst="roundRect">
            <a:avLst>
              <a:gd name="adj" fmla="val 3810"/>
            </a:avLst>
          </a:prstGeom>
          <a:solidFill>
            <a:srgbClr val="0D1728"/>
          </a:solidFill>
          <a:ln/>
        </p:spPr>
      </p:sp>
      <p:sp>
        <p:nvSpPr>
          <p:cNvPr id="17" name="Text 15"/>
          <p:cNvSpPr/>
          <p:nvPr/>
        </p:nvSpPr>
        <p:spPr>
          <a:xfrm>
            <a:off x="9784080" y="23317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B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TusCore Motor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784080" y="283464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simulation/src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DEĞİŞTİRİLMEDİ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448056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Köprü deseni: motor hiçbir dosyası değişmeden üçüncü arayüzüne (pygame → RViz → web) bağlandı.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SimulationSession motoru arka plan thread'inde gerçek zamanlı tick'ler; API yalnızca kilitli JSON snapshot okur.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 Django? Motor saf Python — doğrudan import; Node.js olsaydı ayrı süreç ve IPC gerekecekti.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3 · SIMÜLASYON ARAYÜZÜ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Tarayıcıda Canlı Sürü Konsolu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21792" cy="621792"/>
          </a:xfrm>
          <a:prstGeom prst="ellipse">
            <a:avLst/>
          </a:prstGeom>
          <a:solidFill>
            <a:srgbClr val="E7F4F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0306" y="1807586"/>
            <a:ext cx="298460" cy="2984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162763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 zamanlı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1417320" y="1993392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20 Hz tick'lenir, tarayıcı 10 Hz çizer; izler ve durum çubuğu canlı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263640" y="1645920"/>
            <a:ext cx="621792" cy="621792"/>
          </a:xfrm>
          <a:prstGeom prst="ellipse">
            <a:avLst/>
          </a:prstGeom>
          <a:solidFill>
            <a:srgbClr val="E7F4F5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5306" y="1807586"/>
            <a:ext cx="298460" cy="2984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132320" y="162763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Sürükle-bırak engel</a:t>
            </a:r>
            <a:endParaRPr lang="en-US" sz="1550" dirty="0"/>
          </a:p>
        </p:txBody>
      </p:sp>
      <p:sp>
        <p:nvSpPr>
          <p:cNvPr id="11" name="Text 7"/>
          <p:cNvSpPr/>
          <p:nvPr/>
        </p:nvSpPr>
        <p:spPr>
          <a:xfrm>
            <a:off x="7132320" y="1993392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Engel canlı taşınır; sürü bir sonraki adımda yeni rotaya girer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48640" y="3127248"/>
            <a:ext cx="621792" cy="621792"/>
          </a:xfrm>
          <a:prstGeom prst="ellipse">
            <a:avLst/>
          </a:prstGeom>
          <a:solidFill>
            <a:srgbClr val="E7F4F5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306" y="3288914"/>
            <a:ext cx="298460" cy="2984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17320" y="31089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Görev tipi ön ayarları</a:t>
            </a:r>
            <a:endParaRPr lang="en-US" sz="1550" dirty="0"/>
          </a:p>
        </p:txBody>
      </p:sp>
      <p:sp>
        <p:nvSpPr>
          <p:cNvPr id="15" name="Text 10"/>
          <p:cNvSpPr/>
          <p:nvPr/>
        </p:nvSpPr>
        <p:spPr>
          <a:xfrm>
            <a:off x="1417320" y="347472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 / Tarım / Güvenlik segmentleri alan + filo varsayılanlarını doldurur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263640" y="3127248"/>
            <a:ext cx="621792" cy="621792"/>
          </a:xfrm>
          <a:prstGeom prst="ellipse">
            <a:avLst/>
          </a:prstGeom>
          <a:solidFill>
            <a:srgbClr val="E7F4F5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5306" y="3288914"/>
            <a:ext cx="298460" cy="2984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7132320" y="31089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Karanlık / aydınlık tema</a:t>
            </a:r>
            <a:endParaRPr lang="en-US" sz="1550" dirty="0"/>
          </a:p>
        </p:txBody>
      </p:sp>
      <p:sp>
        <p:nvSpPr>
          <p:cNvPr id="19" name="Text 13"/>
          <p:cNvSpPr/>
          <p:nvPr/>
        </p:nvSpPr>
        <p:spPr>
          <a:xfrm>
            <a:off x="7132320" y="347472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Tercih kalıcı; canvas ve grafik renkleri temayla birlikte değişir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548640" y="4608576"/>
            <a:ext cx="621792" cy="621792"/>
          </a:xfrm>
          <a:prstGeom prst="ellipse">
            <a:avLst/>
          </a:prstGeom>
          <a:solidFill>
            <a:srgbClr val="E7F4F5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306" y="4770242"/>
            <a:ext cx="298460" cy="29846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417320" y="459028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 uyumlu</a:t>
            </a:r>
            <a:endParaRPr lang="en-US" sz="1550" dirty="0"/>
          </a:p>
        </p:txBody>
      </p:sp>
      <p:sp>
        <p:nvSpPr>
          <p:cNvPr id="23" name="Text 16"/>
          <p:cNvSpPr/>
          <p:nvPr/>
        </p:nvSpPr>
        <p:spPr>
          <a:xfrm>
            <a:off x="1417320" y="4956048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Pointer olayları: dokunmatik sürükleme telefonda da çalışır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6263640" y="4608576"/>
            <a:ext cx="621792" cy="621792"/>
          </a:xfrm>
          <a:prstGeom prst="ellipse">
            <a:avLst/>
          </a:prstGeom>
          <a:solidFill>
            <a:srgbClr val="E7F4F5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5306" y="4770242"/>
            <a:ext cx="298460" cy="29846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7132320" y="459028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Parametrik dünya</a:t>
            </a:r>
            <a:endParaRPr lang="en-US" sz="1550" dirty="0"/>
          </a:p>
        </p:txBody>
      </p:sp>
      <p:sp>
        <p:nvSpPr>
          <p:cNvPr id="27" name="Text 19"/>
          <p:cNvSpPr/>
          <p:nvPr/>
        </p:nvSpPr>
        <p:spPr>
          <a:xfrm>
            <a:off x="7132320" y="4956048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 (m²), filo adetleri, engel sayısı ve yükseklik aralığı formdan</a:t>
            </a:r>
            <a:endParaRPr lang="en-US" sz="1200" dirty="0"/>
          </a:p>
        </p:txBody>
      </p:sp>
      <p:sp>
        <p:nvSpPr>
          <p:cNvPr id="28" name="Text 20"/>
          <p:cNvSpPr/>
          <p:nvPr/>
        </p:nvSpPr>
        <p:spPr>
          <a:xfrm>
            <a:off x="548640" y="61264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E8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karşılığı: “web arayüzü tarayıcıda çalışıyor” ✓  ·  “simülasyon görselleştirmesi gerçek zamanlı” ✓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3 · ROI MODÜLÜ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Senaryonun Matematiği: Bugün ve Tusmec ile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94960" cy="4160520"/>
          </a:xfrm>
          <a:prstGeom prst="roundRect">
            <a:avLst>
              <a:gd name="adj" fmla="val 1758"/>
            </a:avLst>
          </a:prstGeom>
          <a:solidFill>
            <a:srgbClr val="F2F5FA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Girdiler (4 zorunlu grup)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4892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Alan büyüklüğü + görev tipi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Mevcut operasyon maliyeti — BUGÜN ödenen (işçilik + yakıt + bakım / ay)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Hedef filo konfigürasyonu (kaç UAV / UGV / AMR)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Tusmec lisans ücreti — geçiş SONRASI aylık SaaS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 alanlar: filo işletme maliyeti (otomatik türetilebilir) ve opsiyonel kurulum bedeli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394960" cy="4160520"/>
          </a:xfrm>
          <a:prstGeom prst="roundRect">
            <a:avLst>
              <a:gd name="adj" fmla="val 1758"/>
            </a:avLst>
          </a:prstGeom>
          <a:solidFill>
            <a:srgbClr val="E7F4F5"/>
          </a:solidFill>
          <a:ln/>
        </p:spPr>
      </p:sp>
      <p:sp>
        <p:nvSpPr>
          <p:cNvPr id="8" name="Text 6"/>
          <p:cNvSpPr/>
          <p:nvPr/>
        </p:nvSpPr>
        <p:spPr>
          <a:xfrm>
            <a:off x="6537960" y="18288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8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Çıktılar (4 zorunlu)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37960" y="2286000"/>
            <a:ext cx="4892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Aylık ve yıllık tasarruf (TL / USD)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Geri ödeme süresi (ay) = kurulum ÷ aylık tasarruf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yıllık toplam ROI (%)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Kümülatif maliyet karşılaştırma grafiği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Bonus: tek tıkla markalı PDF raporu (+15)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Doğrulama: 5 birim testi, hepsi elle hesaplanmış örneklerle · KPI “manuel doğrulama ≥%75” için kayıt README'de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3 · ÖRNEK ANALIZ (DEPO)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Başa Baş Noktası: Eğrilerin Kesiştiği Ay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731520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183880" y="1645920"/>
            <a:ext cx="3429000" cy="1188720"/>
          </a:xfrm>
          <a:prstGeom prst="roundRect">
            <a:avLst>
              <a:gd name="adj" fmla="val 6154"/>
            </a:avLst>
          </a:prstGeom>
          <a:solidFill>
            <a:srgbClr val="F2F5FA"/>
          </a:solidFill>
          <a:ln/>
        </p:spPr>
      </p:sp>
      <p:sp>
        <p:nvSpPr>
          <p:cNvPr id="6" name="Text 3"/>
          <p:cNvSpPr/>
          <p:nvPr/>
        </p:nvSpPr>
        <p:spPr>
          <a:xfrm>
            <a:off x="8412480" y="175564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8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250.000 TL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8412480" y="2286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aylık tasarruf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183880" y="3063240"/>
            <a:ext cx="3429000" cy="1188720"/>
          </a:xfrm>
          <a:prstGeom prst="roundRect">
            <a:avLst>
              <a:gd name="adj" fmla="val 6154"/>
            </a:avLst>
          </a:prstGeom>
          <a:solidFill>
            <a:srgbClr val="F2F5FA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0" y="317296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8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 ay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412480" y="3703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geri ödeme süresi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183880" y="4480560"/>
            <a:ext cx="3429000" cy="1188720"/>
          </a:xfrm>
          <a:prstGeom prst="roundRect">
            <a:avLst>
              <a:gd name="adj" fmla="val 6154"/>
            </a:avLst>
          </a:prstGeom>
          <a:solidFill>
            <a:srgbClr val="16263F"/>
          </a:solidFill>
          <a:ln/>
        </p:spPr>
      </p:sp>
      <p:sp>
        <p:nvSpPr>
          <p:cNvPr id="12" name="Text 9"/>
          <p:cNvSpPr/>
          <p:nvPr/>
        </p:nvSpPr>
        <p:spPr>
          <a:xfrm>
            <a:off x="8412480" y="459028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BB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%109,3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8412480" y="5120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yıllık ROI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48640" y="61264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Girdiler: mevcut 450.000 TL/ay · lisans 120.000 + filo 80.000 TL/ay · kurulum 900.000 TL · kur 40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3 · BONUSLAR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Görevler: Marka Kimliği ve PDF Raporu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1600200"/>
          </a:xfrm>
          <a:prstGeom prst="roundRect">
            <a:avLst>
              <a:gd name="adj" fmla="val 4571"/>
            </a:avLst>
          </a:prstGeom>
          <a:solidFill>
            <a:srgbClr val="F2F5F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21408"/>
            <a:ext cx="822960" cy="822960"/>
          </a:xfrm>
          <a:prstGeom prst="ellipse">
            <a:avLst/>
          </a:prstGeom>
          <a:solidFill>
            <a:srgbClr val="16263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335378"/>
            <a:ext cx="395021" cy="3950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011680" y="199339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Tusmec marka UI (+10)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2011680" y="2487168"/>
            <a:ext cx="9235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Lacivert/turkuaz palet, ortak tema sistemi, karanlık-aydınlık mod; canvas ve grafikler CSS değişkenlerinden renk okur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3566160"/>
            <a:ext cx="11064240" cy="1600200"/>
          </a:xfrm>
          <a:prstGeom prst="roundRect">
            <a:avLst>
              <a:gd name="adj" fmla="val 4571"/>
            </a:avLst>
          </a:prstGeom>
          <a:solidFill>
            <a:srgbClr val="F2F5FA"/>
          </a:solidFill>
          <a:ln/>
        </p:spPr>
      </p:sp>
      <p:sp>
        <p:nvSpPr>
          <p:cNvPr id="10" name="Shape 7"/>
          <p:cNvSpPr/>
          <p:nvPr/>
        </p:nvSpPr>
        <p:spPr>
          <a:xfrm>
            <a:off x="868680" y="3950208"/>
            <a:ext cx="822960" cy="822960"/>
          </a:xfrm>
          <a:prstGeom prst="ellipse">
            <a:avLst/>
          </a:prstGeom>
          <a:solidFill>
            <a:srgbClr val="16263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650" y="4164178"/>
            <a:ext cx="395021" cy="39502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011680" y="382219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ROI raporu (+15)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2011680" y="4315968"/>
            <a:ext cx="9235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ReportLab ile tek sayfalık markalı rapor: girdiler, dört çıktı ve grafik görüntüsü; Türkçe karakterler için DejaVu gömülü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548640" y="56235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bonus hedefi: </a:t>
            </a:r>
            <a:pPr indent="0" marL="0">
              <a:buNone/>
            </a:pPr>
            <a:r>
              <a:rPr lang="en-US" sz="2200" b="1" dirty="0">
                <a:solidFill>
                  <a:srgbClr val="0E8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 puan</a:t>
            </a:r>
            <a:pPr indent="0" marL="0">
              <a:buNone/>
            </a:pPr>
            <a:r>
              <a:rPr lang="en-US" sz="130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(Hafta 2'deki +25 ROS2/RViz bonusuna ek olarak)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DEĞERLENDIRME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3 KPI Karnesi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4297680" cy="658368"/>
          </a:xfrm>
          <a:prstGeom prst="rect">
            <a:avLst/>
          </a:prstGeom>
          <a:solidFill>
            <a:srgbClr val="16263F"/>
          </a:solidFill>
          <a:ln w="9525">
            <a:solidFill>
              <a:srgbClr val="E3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37360"/>
            <a:ext cx="4078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846320" y="1737360"/>
            <a:ext cx="2377440" cy="658368"/>
          </a:xfrm>
          <a:prstGeom prst="rect">
            <a:avLst/>
          </a:prstGeom>
          <a:solidFill>
            <a:srgbClr val="16263F"/>
          </a:solidFill>
          <a:ln w="9525">
            <a:solidFill>
              <a:srgbClr val="E3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56048" y="1737360"/>
            <a:ext cx="2157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Hedef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223760" y="1737360"/>
            <a:ext cx="1097280" cy="658368"/>
          </a:xfrm>
          <a:prstGeom prst="rect">
            <a:avLst/>
          </a:prstGeom>
          <a:solidFill>
            <a:srgbClr val="16263F"/>
          </a:solidFill>
          <a:ln w="9525">
            <a:solidFill>
              <a:srgbClr val="E3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33488" y="1737360"/>
            <a:ext cx="8778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Ağırlık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321040" y="1737360"/>
            <a:ext cx="3291840" cy="658368"/>
          </a:xfrm>
          <a:prstGeom prst="rect">
            <a:avLst/>
          </a:prstGeom>
          <a:solidFill>
            <a:srgbClr val="16263F"/>
          </a:solidFill>
          <a:ln w="9525">
            <a:solidFill>
              <a:srgbClr val="E3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30768" y="1737360"/>
            <a:ext cx="3072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450592"/>
            <a:ext cx="42976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2450592"/>
            <a:ext cx="4078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arayüzü tarayıcıda çalışıyor mu?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846320" y="2450592"/>
            <a:ext cx="23774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56048" y="2450592"/>
            <a:ext cx="2157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Evet / Hayır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223760" y="2450592"/>
            <a:ext cx="10972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33488" y="2450592"/>
            <a:ext cx="8778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%20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321040" y="2450592"/>
            <a:ext cx="32918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30768" y="2450592"/>
            <a:ext cx="3072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Evet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3163824"/>
            <a:ext cx="4297680" cy="658368"/>
          </a:xfrm>
          <a:prstGeom prst="rect">
            <a:avLst/>
          </a:prstGeom>
          <a:solidFill>
            <a:srgbClr val="F2F5FA"/>
          </a:solidFill>
          <a:ln w="9525">
            <a:solidFill>
              <a:srgbClr val="E3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3163824"/>
            <a:ext cx="4078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modülü tüm girişleri kabul ediyor mu?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846320" y="3163824"/>
            <a:ext cx="2377440" cy="658368"/>
          </a:xfrm>
          <a:prstGeom prst="rect">
            <a:avLst/>
          </a:prstGeom>
          <a:solidFill>
            <a:srgbClr val="F2F5FA"/>
          </a:solidFill>
          <a:ln w="9525">
            <a:solidFill>
              <a:srgbClr val="E3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56048" y="3163824"/>
            <a:ext cx="2157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parametre grubu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223760" y="3163824"/>
            <a:ext cx="1097280" cy="658368"/>
          </a:xfrm>
          <a:prstGeom prst="rect">
            <a:avLst/>
          </a:prstGeom>
          <a:solidFill>
            <a:srgbClr val="F2F5FA"/>
          </a:solidFill>
          <a:ln w="9525">
            <a:solidFill>
              <a:srgbClr val="E3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33488" y="3163824"/>
            <a:ext cx="8778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%20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321040" y="3163824"/>
            <a:ext cx="3291840" cy="658368"/>
          </a:xfrm>
          <a:prstGeom prst="rect">
            <a:avLst/>
          </a:prstGeom>
          <a:solidFill>
            <a:srgbClr val="F2F5FA"/>
          </a:solidFill>
          <a:ln w="9525">
            <a:solidFill>
              <a:srgbClr val="E3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30768" y="3163824"/>
            <a:ext cx="3072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4/4 + ek alanlar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3877056"/>
            <a:ext cx="42976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877056"/>
            <a:ext cx="4078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çıktıları doğru hesaplanıyor mu?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4846320" y="3877056"/>
            <a:ext cx="23774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56048" y="3877056"/>
            <a:ext cx="2157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Manuel doğrulama ≥%75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7223760" y="3877056"/>
            <a:ext cx="10972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33488" y="3877056"/>
            <a:ext cx="8778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%20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8321040" y="3877056"/>
            <a:ext cx="32918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30768" y="3877056"/>
            <a:ext cx="3072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5/5 test elle doğrulandı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548640" y="4590288"/>
            <a:ext cx="4297680" cy="658368"/>
          </a:xfrm>
          <a:prstGeom prst="rect">
            <a:avLst/>
          </a:prstGeom>
          <a:solidFill>
            <a:srgbClr val="F2F5FA"/>
          </a:solidFill>
          <a:ln w="9525">
            <a:solidFill>
              <a:srgbClr val="E3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4590288"/>
            <a:ext cx="4078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Simülasyon görselleştirmesi çalışıyor mu?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4846320" y="4590288"/>
            <a:ext cx="2377440" cy="658368"/>
          </a:xfrm>
          <a:prstGeom prst="rect">
            <a:avLst/>
          </a:prstGeom>
          <a:solidFill>
            <a:srgbClr val="F2F5FA"/>
          </a:solidFill>
          <a:ln w="9525">
            <a:solidFill>
              <a:srgbClr val="E3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56048" y="4590288"/>
            <a:ext cx="2157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 zamanlı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7223760" y="4590288"/>
            <a:ext cx="1097280" cy="658368"/>
          </a:xfrm>
          <a:prstGeom prst="rect">
            <a:avLst/>
          </a:prstGeom>
          <a:solidFill>
            <a:srgbClr val="F2F5FA"/>
          </a:solidFill>
          <a:ln w="9525">
            <a:solidFill>
              <a:srgbClr val="E3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33488" y="4590288"/>
            <a:ext cx="8778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%20</a:t>
            </a:r>
            <a:endParaRPr lang="en-US" sz="1250" dirty="0"/>
          </a:p>
        </p:txBody>
      </p:sp>
      <p:sp>
        <p:nvSpPr>
          <p:cNvPr id="42" name="Shape 40"/>
          <p:cNvSpPr/>
          <p:nvPr/>
        </p:nvSpPr>
        <p:spPr>
          <a:xfrm>
            <a:off x="8321040" y="4590288"/>
            <a:ext cx="3291840" cy="658368"/>
          </a:xfrm>
          <a:prstGeom prst="rect">
            <a:avLst/>
          </a:prstGeom>
          <a:solidFill>
            <a:srgbClr val="F2F5FA"/>
          </a:solidFill>
          <a:ln w="9525">
            <a:solidFill>
              <a:srgbClr val="E3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430768" y="4590288"/>
            <a:ext cx="3072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20 Hz motor / 10 Hz çizim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548640" y="5303520"/>
            <a:ext cx="42976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58368" y="5303520"/>
            <a:ext cx="40782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 teslim edildi mi?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4846320" y="5303520"/>
            <a:ext cx="23774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56048" y="5303520"/>
            <a:ext cx="21579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≥2 dk ekran kaydı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7223760" y="5303520"/>
            <a:ext cx="10972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333488" y="5303520"/>
            <a:ext cx="8778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%20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>
            <a:off x="8321040" y="5303520"/>
            <a:ext cx="32918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430768" y="5303520"/>
            <a:ext cx="30723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Teslim edildi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548640" y="6172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Geçme eşiği %75 · beş KPI'ın beşi karşılandı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772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CANLI DEMO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22960" y="1600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Yaklaşık 5 dakika · ardından soru-cevap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2322576"/>
            <a:ext cx="475488" cy="475488"/>
          </a:xfrm>
          <a:prstGeom prst="ellipse">
            <a:avLst/>
          </a:prstGeom>
          <a:solidFill>
            <a:srgbClr val="0E8D92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3225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554480" y="2286000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 görev tipi seç — alan ve filo otomatik dolsun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3127248"/>
            <a:ext cx="475488" cy="475488"/>
          </a:xfrm>
          <a:prstGeom prst="ellipse">
            <a:avLst/>
          </a:prstGeom>
          <a:solidFill>
            <a:srgbClr val="0E8D92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127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54480" y="3090672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Simülasyonu başlat: 🚁🚙🤖 sürüsü canlı, motor rozeti “real”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22960" y="3931920"/>
            <a:ext cx="475488" cy="475488"/>
          </a:xfrm>
          <a:prstGeom prst="ellipse">
            <a:avLst/>
          </a:prstGeom>
          <a:solidFill>
            <a:srgbClr val="0E8D92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9319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554480" y="3895344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engeli sürünün önüne sürükle → PAPF kaçınmasını izle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22960" y="4736592"/>
            <a:ext cx="475488" cy="475488"/>
          </a:xfrm>
          <a:prstGeom prst="ellipse">
            <a:avLst/>
          </a:prstGeom>
          <a:solidFill>
            <a:srgbClr val="0E8D92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7365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554480" y="4700016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sayfasına geç (parametreler otomatik taşınır) → hesapla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22960" y="5541264"/>
            <a:ext cx="475488" cy="475488"/>
          </a:xfrm>
          <a:prstGeom prst="ellipse">
            <a:avLst/>
          </a:prstGeom>
          <a:solidFill>
            <a:srgbClr val="0E8D92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5541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54480" y="5504688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Temayı değiştir, PDF raporunu indir ve aç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KAPANIŞ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Dört Haftada Öğrendiklerim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86400" cy="1874520"/>
          </a:xfrm>
          <a:prstGeom prst="roundRect">
            <a:avLst>
              <a:gd name="adj" fmla="val 3902"/>
            </a:avLst>
          </a:prstGeom>
          <a:solidFill>
            <a:srgbClr val="F2F5FA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011680"/>
            <a:ext cx="685800" cy="685800"/>
          </a:xfrm>
          <a:prstGeom prst="ellipse">
            <a:avLst/>
          </a:prstGeom>
          <a:solidFill>
            <a:srgbClr val="E7F4F5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" y="218998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7360" y="199339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Köprü deseni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737360" y="2450592"/>
            <a:ext cx="4160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Çekirdeğe dokunmadan sarmalayıcı katmanlarla yeni arayüzler eklemek — pygame, RViz ve web'de üç kez işe yaradı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63640" y="1737360"/>
            <a:ext cx="5486400" cy="1874520"/>
          </a:xfrm>
          <a:prstGeom prst="roundRect">
            <a:avLst>
              <a:gd name="adj" fmla="val 3902"/>
            </a:avLst>
          </a:prstGeom>
          <a:solidFill>
            <a:srgbClr val="F2F5FA"/>
          </a:solidFill>
          <a:ln/>
        </p:spPr>
      </p:sp>
      <p:sp>
        <p:nvSpPr>
          <p:cNvPr id="10" name="Shape 7"/>
          <p:cNvSpPr/>
          <p:nvPr/>
        </p:nvSpPr>
        <p:spPr>
          <a:xfrm>
            <a:off x="6537960" y="2011680"/>
            <a:ext cx="685800" cy="685800"/>
          </a:xfrm>
          <a:prstGeom prst="ellipse">
            <a:avLst/>
          </a:prstGeom>
          <a:solidFill>
            <a:srgbClr val="E7F4F5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6268" y="218998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52360" y="199339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önce güven verir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7452360" y="2450592"/>
            <a:ext cx="4160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 hesaplanmış ROI örnekleri, formül değişikliklerinde korkusuz refaktör sağladı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3840480"/>
            <a:ext cx="5486400" cy="1874520"/>
          </a:xfrm>
          <a:prstGeom prst="roundRect">
            <a:avLst>
              <a:gd name="adj" fmla="val 3902"/>
            </a:avLst>
          </a:prstGeom>
          <a:solidFill>
            <a:srgbClr val="F2F5FA"/>
          </a:solidFill>
          <a:ln/>
        </p:spPr>
      </p:sp>
      <p:sp>
        <p:nvSpPr>
          <p:cNvPr id="15" name="Shape 11"/>
          <p:cNvSpPr/>
          <p:nvPr/>
        </p:nvSpPr>
        <p:spPr>
          <a:xfrm>
            <a:off x="822960" y="4114800"/>
            <a:ext cx="685800" cy="685800"/>
          </a:xfrm>
          <a:prstGeom prst="ellipse">
            <a:avLst/>
          </a:prstGeom>
          <a:solidFill>
            <a:srgbClr val="E7F4F5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68" y="4293108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737360" y="409651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≠ kod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737360" y="4553712"/>
            <a:ext cx="4160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Negatif ROI bir bug değil kalibrasyon sinyaliydi: cost_per_hour spec'leri satış rakamı değil simülasyon yer tutucusu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263640" y="3840480"/>
            <a:ext cx="5486400" cy="1874520"/>
          </a:xfrm>
          <a:prstGeom prst="roundRect">
            <a:avLst>
              <a:gd name="adj" fmla="val 3902"/>
            </a:avLst>
          </a:prstGeom>
          <a:solidFill>
            <a:srgbClr val="F2F5FA"/>
          </a:solidFill>
          <a:ln/>
        </p:spPr>
      </p:sp>
      <p:sp>
        <p:nvSpPr>
          <p:cNvPr id="20" name="Shape 15"/>
          <p:cNvSpPr/>
          <p:nvPr/>
        </p:nvSpPr>
        <p:spPr>
          <a:xfrm>
            <a:off x="6537960" y="4114800"/>
            <a:ext cx="685800" cy="685800"/>
          </a:xfrm>
          <a:prstGeom prst="ellipse">
            <a:avLst/>
          </a:prstGeom>
          <a:solidFill>
            <a:srgbClr val="E7F4F5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6268" y="4293108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52360" y="409651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 soruyu sormak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7452360" y="4553712"/>
            <a:ext cx="4160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Görev tanımının dışına çıkan alanları (kurulum, filo maliyeti) mentörle gerekçeli seçenekler halinde tartışmak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8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ÖNERILER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3035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Platformun Sonraki Adımları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66160" cy="4023360"/>
          </a:xfrm>
          <a:prstGeom prst="roundRect">
            <a:avLst>
              <a:gd name="adj" fmla="val 2051"/>
            </a:avLst>
          </a:prstGeom>
          <a:solidFill>
            <a:srgbClr val="F2F5FA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202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8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Kısa vade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423160"/>
            <a:ext cx="3063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Maliyet spec'lerinin gerçek saha verisiyle kalibrasyonu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Chart.js'in yerelleştirilmesi (çevrimdışı demo garantisi)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APF / PAPF anahtarı ile canlı algoritma karşılaştırması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1691640"/>
            <a:ext cx="3566160" cy="4023360"/>
          </a:xfrm>
          <a:prstGeom prst="roundRect">
            <a:avLst>
              <a:gd name="adj" fmla="val 2051"/>
            </a:avLst>
          </a:prstGeom>
          <a:solidFill>
            <a:srgbClr val="F2F5FA"/>
          </a:solidFill>
          <a:ln/>
        </p:spPr>
      </p:sp>
      <p:sp>
        <p:nvSpPr>
          <p:cNvPr id="8" name="Text 6"/>
          <p:cNvSpPr/>
          <p:nvPr/>
        </p:nvSpPr>
        <p:spPr>
          <a:xfrm>
            <a:off x="4617720" y="19202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8D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Orta vade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617720" y="2423160"/>
            <a:ext cx="3063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WebSocket'e geçiş (polling yerine push)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Çoklu eşzamanlı oturum (birden fazla satış temsilcisi)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626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Simülasyon hız kontrolü ve kayıt/tekrar oynatma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38160" y="1691640"/>
            <a:ext cx="3566160" cy="4023360"/>
          </a:xfrm>
          <a:prstGeom prst="roundRect">
            <a:avLst>
              <a:gd name="adj" fmla="val 2051"/>
            </a:avLst>
          </a:prstGeom>
          <a:solidFill>
            <a:srgbClr val="16263F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0" y="19202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BB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Uzun vade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412480" y="2423160"/>
            <a:ext cx="3063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TusCore SaaS paneline gömülü demo modülü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 filo telemetrisiyle dijital ikiz bağlantısı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Müşteri sahası haritası üzerinde senaryo kurulumu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377440"/>
            <a:ext cx="5943600" cy="5943600"/>
          </a:xfrm>
          <a:prstGeom prst="ellipse">
            <a:avLst/>
          </a:prstGeom>
          <a:solidFill>
            <a:srgbClr val="1E3355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3774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Teşekkürler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22960" y="35204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BB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Sorularınızı bekliyorum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22960" y="5760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Feyza Serbest · Tusmec Karma Robot Teknolojileri A.Ş. · Temmuz 2026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2026-07-18T11:02:06Z</dcterms:created>
  <dcterms:modified xsi:type="dcterms:W3CDTF">2026-07-18T11:02:06Z</dcterms:modified>
</cp:coreProperties>
</file>